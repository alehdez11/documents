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713232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Fraud Alert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Vulnerability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21792" y="18745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E7F0"/>
                </a:solidFill>
              </a:rPr>
              <a:t>Exploratory Data Analysis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800600" y="1170432"/>
            <a:ext cx="6126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Analytical dataset quality, coverage, and modeling readiness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846320" y="199339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Polished report — version 2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846320" y="2514600"/>
            <a:ext cx="621792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27889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7A8C"/>
                </a:solidFill>
              </a:rPr>
              <a:t>Scope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846320" y="3127248"/>
            <a:ext cx="6172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</a:rPr>
              <a:t>Validate analytical population, outcome integrity, and temporal coverage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</a:rPr>
              <a:t>Review source history, credit exposure, missingness, raw distributions, and point-in-time controls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</a:rPr>
              <a:t>Do not assess model performance or feature importance in this report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46320" y="4800600"/>
            <a:ext cx="2651760" cy="347472"/>
          </a:xfrm>
          <a:prstGeom prst="rect">
            <a:avLst/>
          </a:prstGeom>
          <a:solidFill>
            <a:srgbClr val="1F7A8C"/>
          </a:solidFill>
          <a:ln>
            <a:solidFill>
              <a:srgbClr val="1F7A8C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READY FOR FEATURE VALIDATION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846320" y="55778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Prepared for Data Science review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Analytical Dataset at a Glance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02920" y="68580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One-party analytical population with complete 12-month behavioral panels.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987552"/>
            <a:ext cx="11201400" cy="0"/>
          </a:xfrm>
          <a:prstGeom prst="line">
            <a:avLst/>
          </a:prstGeom>
          <a:noFill/>
          <a:ln w="10160">
            <a:solidFill>
              <a:srgbClr val="D1D5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527048"/>
            <a:ext cx="242316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D1D5D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F7A8C"/>
                </a:solidFill>
              </a:rPr>
              <a:t>688,589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640080" y="1947672"/>
            <a:ext cx="2331720" cy="384048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11827"/>
                </a:solidFill>
              </a:rPr>
              <a:t>Unique analytical parties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383280" y="1527048"/>
            <a:ext cx="242316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D1D5D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F7A8C"/>
                </a:solidFill>
              </a:rPr>
              <a:t>62,599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3429000" y="1947672"/>
            <a:ext cx="2331720" cy="384048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11827"/>
                </a:solidFill>
              </a:rPr>
              <a:t>Positive observations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172200" y="1527048"/>
            <a:ext cx="242316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D1D5D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F7A8C"/>
                </a:solidFill>
              </a:rPr>
              <a:t>625,990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6217920" y="1947672"/>
            <a:ext cx="2331720" cy="384048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11827"/>
                </a:solidFill>
              </a:rPr>
              <a:t>Negative observations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961120" y="1527048"/>
            <a:ext cx="242316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D1D5D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F7A8C"/>
                </a:solidFill>
              </a:rPr>
              <a:t>48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9006840" y="1947672"/>
            <a:ext cx="2331720" cy="384048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11827"/>
                </a:solidFill>
              </a:rPr>
              <a:t>Consecutive observation months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94360" y="2944368"/>
            <a:ext cx="242316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D1D5D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F7A8C"/>
                </a:solidFill>
              </a:rPr>
              <a:t>12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640080" y="3364992"/>
            <a:ext cx="2331720" cy="384048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11827"/>
                </a:solidFill>
              </a:rPr>
              <a:t>Analytical behavior months / party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383280" y="2944368"/>
            <a:ext cx="242316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D1D5D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F7A8C"/>
                </a:solidFill>
              </a:rPr>
              <a:t>8.26M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429000" y="3364992"/>
            <a:ext cx="2331720" cy="384048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11827"/>
                </a:solidFill>
              </a:rPr>
              <a:t>Party-month observations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172200" y="2944368"/>
            <a:ext cx="242316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D1D5D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F7A8C"/>
                </a:solidFill>
              </a:rPr>
              <a:t>98.05M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6217920" y="3364992"/>
            <a:ext cx="2331720" cy="384048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11827"/>
                </a:solidFill>
              </a:rPr>
              <a:t>Underlying trade records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961120" y="2944368"/>
            <a:ext cx="242316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D1D5D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E7D32"/>
                </a:solidFill>
              </a:rPr>
              <a:t>0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9006840" y="3364992"/>
            <a:ext cx="2331720" cy="384048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11827"/>
                </a:solidFill>
              </a:rPr>
              <a:t>Point-in-time violations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31520" y="4663440"/>
            <a:ext cx="10698480" cy="502920"/>
          </a:xfrm>
          <a:prstGeom prst="rect">
            <a:avLst/>
          </a:prstGeom>
          <a:solidFill>
            <a:srgbClr val="FFF7ED"/>
          </a:solidFill>
          <a:ln w="10160">
            <a:solidFill>
              <a:srgbClr val="D1D5DB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</a:rPr>
              <a:t>Interpretation note: the 9.09% sample event rate reflects the analytical sampling design and should not be interpreted as population prevalence.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68680" y="544068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</a:rPr>
              <a:t>Dataset is large enough for robust descriptive review and subsequent modeling work.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</a:rPr>
              <a:t>Behavioral history has exactly 12 analytical months per party.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</a:rPr>
              <a:t>Underlying trade extraction passed point-in-time validation.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02920" y="6565392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8A94A6"/>
                </a:solidFill>
              </a:rPr>
              <a:t>EDA Report · Version 2 polished · 1</a:t>
            </a:r>
            <a:endParaRPr lang="en-US" sz="720" dirty="0"/>
          </a:p>
        </p:txBody>
      </p:sp>
      <p:sp>
        <p:nvSpPr>
          <p:cNvPr id="24" name="Text 22"/>
          <p:cNvSpPr/>
          <p:nvPr/>
        </p:nvSpPr>
        <p:spPr>
          <a:xfrm>
            <a:off x="5486400" y="6565392"/>
            <a:ext cx="6217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8A94A6"/>
                </a:solidFill>
              </a:rPr>
              <a:t>Sample event rate reflects analytical sampling; not population prevalence.</a:t>
            </a:r>
            <a:endParaRPr lang="en-US" sz="7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Cohort and Outcome Integrity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02920" y="68580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The analytical unit and label definition pass basic and temporal consistency controls.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987552"/>
            <a:ext cx="11201400" cy="0"/>
          </a:xfrm>
          <a:prstGeom prst="line">
            <a:avLst/>
          </a:prstGeom>
          <a:noFill/>
          <a:ln w="10160">
            <a:solidFill>
              <a:srgbClr val="D1D5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23444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F7A8C"/>
                </a:solidFill>
              </a:rPr>
              <a:t>COHORT UNIT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6217920" y="123444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F7A8C"/>
                </a:solidFill>
              </a:rPr>
              <a:t>OUTCOME INTEGRITY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685800" y="1627632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</a:rPr>
              <a:t>Unique party = analytical row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26280" y="1591056"/>
            <a:ext cx="822960" cy="292608"/>
          </a:xfrm>
          <a:prstGeom prst="rect">
            <a:avLst/>
          </a:prstGeom>
          <a:solidFill>
            <a:srgbClr val="2E7D32"/>
          </a:solidFill>
          <a:ln w="10160">
            <a:solidFill>
              <a:srgbClr val="2E7D32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PASS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85800" y="1993392"/>
            <a:ext cx="4846320" cy="0"/>
          </a:xfrm>
          <a:prstGeom prst="line">
            <a:avLst/>
          </a:prstGeom>
          <a:noFill/>
          <a:ln w="762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130552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</a:rPr>
              <a:t>Duplicate party rows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26280" y="2093976"/>
            <a:ext cx="822960" cy="292608"/>
          </a:xfrm>
          <a:prstGeom prst="rect">
            <a:avLst/>
          </a:prstGeom>
          <a:solidFill>
            <a:srgbClr val="F8FAFC"/>
          </a:solidFill>
          <a:ln w="10160">
            <a:solidFill>
              <a:srgbClr val="D1D5DB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7D32"/>
                </a:solidFill>
              </a:rPr>
              <a:t>0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85800" y="2496312"/>
            <a:ext cx="4846320" cy="0"/>
          </a:xfrm>
          <a:prstGeom prst="line">
            <a:avLst/>
          </a:prstGeom>
          <a:noFill/>
          <a:ln w="762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2633472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</a:rPr>
              <a:t>Null party IDs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26280" y="2596896"/>
            <a:ext cx="822960" cy="292608"/>
          </a:xfrm>
          <a:prstGeom prst="rect">
            <a:avLst/>
          </a:prstGeom>
          <a:solidFill>
            <a:srgbClr val="F8FAFC"/>
          </a:solidFill>
          <a:ln w="10160">
            <a:solidFill>
              <a:srgbClr val="D1D5DB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7D32"/>
                </a:solidFill>
              </a:rPr>
              <a:t>0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85800" y="2999232"/>
            <a:ext cx="4846320" cy="0"/>
          </a:xfrm>
          <a:prstGeom prst="line">
            <a:avLst/>
          </a:prstGeom>
          <a:noFill/>
          <a:ln w="762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3136392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</a:rPr>
              <a:t>Null observation dates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26280" y="3099816"/>
            <a:ext cx="822960" cy="292608"/>
          </a:xfrm>
          <a:prstGeom prst="rect">
            <a:avLst/>
          </a:prstGeom>
          <a:solidFill>
            <a:srgbClr val="F8FAFC"/>
          </a:solidFill>
          <a:ln w="10160">
            <a:solidFill>
              <a:srgbClr val="D1D5DB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7D32"/>
                </a:solidFill>
              </a:rPr>
              <a:t>0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85800" y="3502152"/>
            <a:ext cx="4846320" cy="0"/>
          </a:xfrm>
          <a:prstGeom prst="line">
            <a:avLst/>
          </a:prstGeom>
          <a:noFill/>
          <a:ln w="762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3639312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</a:rPr>
              <a:t>Null labels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26280" y="3602736"/>
            <a:ext cx="822960" cy="292608"/>
          </a:xfrm>
          <a:prstGeom prst="rect">
            <a:avLst/>
          </a:prstGeom>
          <a:solidFill>
            <a:srgbClr val="F8FAFC"/>
          </a:solidFill>
          <a:ln w="10160">
            <a:solidFill>
              <a:srgbClr val="D1D5DB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7D32"/>
                </a:solidFill>
              </a:rPr>
              <a:t>0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85800" y="4005072"/>
            <a:ext cx="4846320" cy="0"/>
          </a:xfrm>
          <a:prstGeom prst="line">
            <a:avLst/>
          </a:prstGeom>
          <a:noFill/>
          <a:ln w="762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4142232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</a:rPr>
              <a:t>Invalid labels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26280" y="4105656"/>
            <a:ext cx="822960" cy="292608"/>
          </a:xfrm>
          <a:prstGeom prst="rect">
            <a:avLst/>
          </a:prstGeom>
          <a:solidFill>
            <a:srgbClr val="F8FAFC"/>
          </a:solidFill>
          <a:ln w="10160">
            <a:solidFill>
              <a:srgbClr val="D1D5DB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7D32"/>
                </a:solidFill>
              </a:rPr>
              <a:t>0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85800" y="4507992"/>
            <a:ext cx="4846320" cy="0"/>
          </a:xfrm>
          <a:prstGeom prst="line">
            <a:avLst/>
          </a:prstGeom>
          <a:noFill/>
          <a:ln w="7620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17920" y="1627632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</a:rPr>
              <a:t>Positive without qualifying alert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0058400" y="1591056"/>
            <a:ext cx="822960" cy="292608"/>
          </a:xfrm>
          <a:prstGeom prst="rect">
            <a:avLst/>
          </a:prstGeom>
          <a:solidFill>
            <a:srgbClr val="F8FAFC"/>
          </a:solidFill>
          <a:ln w="10160">
            <a:solidFill>
              <a:srgbClr val="D1D5DB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7D32"/>
                </a:solidFill>
              </a:rPr>
              <a:t>0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217920" y="1993392"/>
            <a:ext cx="4846320" cy="0"/>
          </a:xfrm>
          <a:prstGeom prst="line">
            <a:avLst/>
          </a:prstGeom>
          <a:noFill/>
          <a:ln w="7620">
            <a:solidFill>
              <a:srgbClr val="E5E7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17920" y="2130552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</a:rPr>
              <a:t>Positive alert ≤ observation date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0058400" y="2093976"/>
            <a:ext cx="822960" cy="292608"/>
          </a:xfrm>
          <a:prstGeom prst="rect">
            <a:avLst/>
          </a:prstGeom>
          <a:solidFill>
            <a:srgbClr val="F8FAFC"/>
          </a:solidFill>
          <a:ln w="10160">
            <a:solidFill>
              <a:srgbClr val="D1D5DB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7D32"/>
                </a:solidFill>
              </a:rPr>
              <a:t>0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217920" y="2496312"/>
            <a:ext cx="4846320" cy="0"/>
          </a:xfrm>
          <a:prstGeom prst="line">
            <a:avLst/>
          </a:prstGeom>
          <a:noFill/>
          <a:ln w="7620">
            <a:solidFill>
              <a:srgbClr val="E5E7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17920" y="2633472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</a:rPr>
              <a:t>Positive alert outside 3m horizon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0058400" y="2596896"/>
            <a:ext cx="822960" cy="292608"/>
          </a:xfrm>
          <a:prstGeom prst="rect">
            <a:avLst/>
          </a:prstGeom>
          <a:solidFill>
            <a:srgbClr val="F8FAFC"/>
          </a:solidFill>
          <a:ln w="10160">
            <a:solidFill>
              <a:srgbClr val="D1D5DB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7D32"/>
                </a:solidFill>
              </a:rPr>
              <a:t>0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217920" y="2999232"/>
            <a:ext cx="4846320" cy="0"/>
          </a:xfrm>
          <a:prstGeom prst="line">
            <a:avLst/>
          </a:prstGeom>
          <a:noFill/>
          <a:ln w="7620">
            <a:solidFill>
              <a:srgbClr val="E5E7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17920" y="3136392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</a:rPr>
              <a:t>Negative with alert inside horizon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0058400" y="3099816"/>
            <a:ext cx="822960" cy="292608"/>
          </a:xfrm>
          <a:prstGeom prst="rect">
            <a:avLst/>
          </a:prstGeom>
          <a:solidFill>
            <a:srgbClr val="F8FAFC"/>
          </a:solidFill>
          <a:ln w="10160">
            <a:solidFill>
              <a:srgbClr val="D1D5DB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7D32"/>
                </a:solidFill>
              </a:rPr>
              <a:t>0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217920" y="3502152"/>
            <a:ext cx="4846320" cy="0"/>
          </a:xfrm>
          <a:prstGeom prst="line">
            <a:avLst/>
          </a:prstGeom>
          <a:noFill/>
          <a:ln w="7620">
            <a:solidFill>
              <a:srgbClr val="E5E7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217920" y="3639312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</a:rPr>
              <a:t>Outcome horizon violations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10058400" y="3602736"/>
            <a:ext cx="822960" cy="292608"/>
          </a:xfrm>
          <a:prstGeom prst="rect">
            <a:avLst/>
          </a:prstGeom>
          <a:solidFill>
            <a:srgbClr val="F8FAFC"/>
          </a:solidFill>
          <a:ln w="10160">
            <a:solidFill>
              <a:srgbClr val="D1D5DB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7D32"/>
                </a:solidFill>
              </a:rPr>
              <a:t>0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217920" y="4005072"/>
            <a:ext cx="4846320" cy="0"/>
          </a:xfrm>
          <a:prstGeom prst="line">
            <a:avLst/>
          </a:prstGeom>
          <a:noFill/>
          <a:ln w="7620">
            <a:solidFill>
              <a:srgbClr val="E5E7E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005840" y="5166360"/>
            <a:ext cx="10149840" cy="640080"/>
          </a:xfrm>
          <a:prstGeom prst="rect">
            <a:avLst/>
          </a:prstGeom>
          <a:solidFill>
            <a:srgbClr val="F0F9FF"/>
          </a:solidFill>
          <a:ln w="10160">
            <a:solidFill>
              <a:srgbClr val="D1D5DB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</a:rPr>
              <a:t>Takeaway: the cohort has a clean one-party/one-observation structure and the target respects the future 3-month horizon for every observation.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02920" y="6565392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8A94A6"/>
                </a:solidFill>
              </a:rPr>
              <a:t>EDA Report · Version 2 polished · 2</a:t>
            </a:r>
            <a:endParaRPr lang="en-US" sz="720" dirty="0"/>
          </a:p>
        </p:txBody>
      </p:sp>
      <p:sp>
        <p:nvSpPr>
          <p:cNvPr id="42" name="Text 40"/>
          <p:cNvSpPr/>
          <p:nvPr/>
        </p:nvSpPr>
        <p:spPr>
          <a:xfrm>
            <a:off x="5486400" y="6565392"/>
            <a:ext cx="6217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8A94A6"/>
                </a:solidFill>
              </a:rPr>
              <a:t>Sample event rate reflects analytical sampling; not population prevalence.</a:t>
            </a:r>
            <a:endParaRPr lang="en-US" sz="7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Continuous Calendar Coverage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02920" y="68580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48 consecutive month-end observation dates with no calendar gaps.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987552"/>
            <a:ext cx="11201400" cy="0"/>
          </a:xfrm>
          <a:prstGeom prst="line">
            <a:avLst/>
          </a:prstGeom>
          <a:noFill/>
          <a:ln w="10160">
            <a:solidFill>
              <a:srgbClr val="D1D5DB"/>
            </a:solidFill>
            <a:prstDash val="solid"/>
          </a:ln>
        </p:spPr>
      </p:sp>
      <p:pic>
        <p:nvPicPr>
          <p:cNvPr id="5" name="Image 0" descr="/mnt/data/eda_polished_charts/monthly_volu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34440"/>
            <a:ext cx="10789920" cy="44348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8680" y="5806440"/>
            <a:ext cx="10607040" cy="438912"/>
          </a:xfrm>
          <a:prstGeom prst="rect">
            <a:avLst/>
          </a:prstGeom>
          <a:solidFill>
            <a:srgbClr val="F8FAFC"/>
          </a:solidFill>
          <a:ln w="10160">
            <a:solidFill>
              <a:srgbClr val="D1D5DB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</a:rPr>
              <a:t>Key point: cohort volume is not uniform over time. May–June 2024 is a material concentration and should be considered when interpreting aggregate statistics.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02920" y="6565392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8A94A6"/>
                </a:solidFill>
              </a:rPr>
              <a:t>EDA Report · Version 2 polished · 3</a:t>
            </a:r>
            <a:endParaRPr lang="en-US" sz="720" dirty="0"/>
          </a:p>
        </p:txBody>
      </p:sp>
      <p:sp>
        <p:nvSpPr>
          <p:cNvPr id="8" name="Text 5"/>
          <p:cNvSpPr/>
          <p:nvPr/>
        </p:nvSpPr>
        <p:spPr>
          <a:xfrm>
            <a:off x="5486400" y="6565392"/>
            <a:ext cx="6217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8A94A6"/>
                </a:solidFill>
              </a:rPr>
              <a:t>Sample event rate reflects analytical sampling; not population prevalence.</a:t>
            </a:r>
            <a:endParaRPr lang="en-US" sz="7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Source History and Left-Censoring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02920" y="68580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Available data history is not the same as true customer tenure.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987552"/>
            <a:ext cx="11201400" cy="0"/>
          </a:xfrm>
          <a:prstGeom prst="line">
            <a:avLst/>
          </a:prstGeom>
          <a:noFill/>
          <a:ln w="10160">
            <a:solidFill>
              <a:srgbClr val="D1D5DB"/>
            </a:solidFill>
            <a:prstDash val="solid"/>
          </a:ln>
        </p:spPr>
      </p:sp>
      <p:pic>
        <p:nvPicPr>
          <p:cNvPr id="5" name="Image 0" descr="/mnt/data/eda_polished_charts/source_censor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234440"/>
            <a:ext cx="5577840" cy="3749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675120" y="1527048"/>
            <a:ext cx="219456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D1D5D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26B38"/>
                </a:solidFill>
              </a:rPr>
              <a:t>37.43%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6720840" y="1947672"/>
            <a:ext cx="2103120" cy="338328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11827"/>
                </a:solidFill>
              </a:rPr>
              <a:t>present at source inception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9189720" y="1527048"/>
            <a:ext cx="219456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D1D5D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26B38"/>
                </a:solidFill>
              </a:rPr>
              <a:t>257,701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9235440" y="1947672"/>
            <a:ext cx="2103120" cy="338328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11827"/>
                </a:solidFill>
              </a:rPr>
              <a:t>source-start parties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6675120" y="2807208"/>
            <a:ext cx="219456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D1D5D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F7A8C"/>
                </a:solidFill>
              </a:rPr>
              <a:t>10.91%</a:t>
            </a:r>
            <a:endParaRPr lang="en-US" sz="2100" dirty="0"/>
          </a:p>
        </p:txBody>
      </p:sp>
      <p:sp>
        <p:nvSpPr>
          <p:cNvPr id="11" name="Text 8"/>
          <p:cNvSpPr/>
          <p:nvPr/>
        </p:nvSpPr>
        <p:spPr>
          <a:xfrm>
            <a:off x="6720840" y="3227832"/>
            <a:ext cx="2103120" cy="338328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11827"/>
                </a:solidFill>
              </a:rPr>
              <a:t>source-start positive rate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9189720" y="2807208"/>
            <a:ext cx="219456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D1D5D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6B7280"/>
                </a:solidFill>
              </a:rPr>
              <a:t>8.01%</a:t>
            </a:r>
            <a:endParaRPr lang="en-US" sz="2100" dirty="0"/>
          </a:p>
        </p:txBody>
      </p:sp>
      <p:sp>
        <p:nvSpPr>
          <p:cNvPr id="13" name="Text 10"/>
          <p:cNvSpPr/>
          <p:nvPr/>
        </p:nvSpPr>
        <p:spPr>
          <a:xfrm>
            <a:off x="9235440" y="3227832"/>
            <a:ext cx="2103120" cy="338328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11827"/>
                </a:solidFill>
              </a:rPr>
              <a:t>later-history positive rate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6675120" y="4251960"/>
            <a:ext cx="4709160" cy="822960"/>
          </a:xfrm>
          <a:prstGeom prst="rect">
            <a:avLst/>
          </a:prstGeom>
          <a:solidFill>
            <a:srgbClr val="FFF7ED"/>
          </a:solidFill>
          <a:ln w="10160">
            <a:solidFill>
              <a:srgbClr val="D1D5DB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</a:rPr>
              <a:t>Caution: person_restricted.data_date reflects source availability / loading history, not customer relationship start date. True tenure is not directly available from this source.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02920" y="6565392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8A94A6"/>
                </a:solidFill>
              </a:rPr>
              <a:t>EDA Report · Version 2 polished · 4</a:t>
            </a:r>
            <a:endParaRPr lang="en-US" sz="720" dirty="0"/>
          </a:p>
        </p:txBody>
      </p:sp>
      <p:sp>
        <p:nvSpPr>
          <p:cNvPr id="16" name="Text 13"/>
          <p:cNvSpPr/>
          <p:nvPr/>
        </p:nvSpPr>
        <p:spPr>
          <a:xfrm>
            <a:off x="5486400" y="6565392"/>
            <a:ext cx="6217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8A94A6"/>
                </a:solidFill>
              </a:rPr>
              <a:t>Sample event rate reflects analytical sampling; not population prevalence.</a:t>
            </a:r>
            <a:endParaRPr lang="en-US" sz="7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Credit Exposure Differs Materially Across Groups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02920" y="68580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Positive observations have deeper observable credit files.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987552"/>
            <a:ext cx="11201400" cy="0"/>
          </a:xfrm>
          <a:prstGeom prst="line">
            <a:avLst/>
          </a:prstGeom>
          <a:noFill/>
          <a:ln w="10160">
            <a:solidFill>
              <a:srgbClr val="D1D5DB"/>
            </a:solidFill>
            <a:prstDash val="solid"/>
          </a:ln>
        </p:spPr>
      </p:sp>
      <p:pic>
        <p:nvPicPr>
          <p:cNvPr id="5" name="Image 0" descr="/mnt/data/eda_polished_charts/active_account_bucke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234440"/>
            <a:ext cx="6400800" cy="3840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452360" y="1527048"/>
            <a:ext cx="182880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D1D5D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6B7280"/>
                </a:solidFill>
              </a:rPr>
              <a:t>3.53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7498080" y="1947672"/>
            <a:ext cx="1737360" cy="338328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11827"/>
                </a:solidFill>
              </a:rPr>
              <a:t>avg active accounts · Negative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9555480" y="1527048"/>
            <a:ext cx="182880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D1D5D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F7A8C"/>
                </a:solidFill>
              </a:rPr>
              <a:t>5.04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9601200" y="1947672"/>
            <a:ext cx="1737360" cy="338328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11827"/>
                </a:solidFill>
              </a:rPr>
              <a:t>avg active accounts · Positive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452360" y="2898648"/>
            <a:ext cx="182880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D1D5D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26B38"/>
                </a:solidFill>
              </a:rPr>
              <a:t>16.09%</a:t>
            </a:r>
            <a:endParaRPr lang="en-US" sz="2100" dirty="0"/>
          </a:p>
        </p:txBody>
      </p:sp>
      <p:sp>
        <p:nvSpPr>
          <p:cNvPr id="11" name="Text 8"/>
          <p:cNvSpPr/>
          <p:nvPr/>
        </p:nvSpPr>
        <p:spPr>
          <a:xfrm>
            <a:off x="7498080" y="3319272"/>
            <a:ext cx="1737360" cy="338328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11827"/>
                </a:solidFill>
              </a:rPr>
              <a:t>zero active all months · Negative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9555480" y="2898648"/>
            <a:ext cx="182880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D1D5D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E7D32"/>
                </a:solidFill>
              </a:rPr>
              <a:t>1.80%</a:t>
            </a:r>
            <a:endParaRPr lang="en-US" sz="2100" dirty="0"/>
          </a:p>
        </p:txBody>
      </p:sp>
      <p:sp>
        <p:nvSpPr>
          <p:cNvPr id="13" name="Text 10"/>
          <p:cNvSpPr/>
          <p:nvPr/>
        </p:nvSpPr>
        <p:spPr>
          <a:xfrm>
            <a:off x="9601200" y="3319272"/>
            <a:ext cx="1737360" cy="338328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11827"/>
                </a:solidFill>
              </a:rPr>
              <a:t>zero active all months · Positive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7406640" y="4343400"/>
            <a:ext cx="3977640" cy="685800"/>
          </a:xfrm>
          <a:prstGeom prst="rect">
            <a:avLst/>
          </a:prstGeom>
          <a:solidFill>
            <a:srgbClr val="F8FAFC"/>
          </a:solidFill>
          <a:ln w="10160">
            <a:solidFill>
              <a:srgbClr val="D1D5DB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</a:rPr>
              <a:t>Interpretation: positive concentration increases quickly from thin/no-active-file groups and then plateaus around 3+ active accounts.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02920" y="6565392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8A94A6"/>
                </a:solidFill>
              </a:rPr>
              <a:t>EDA Report · Version 2 polished · 5</a:t>
            </a:r>
            <a:endParaRPr lang="en-US" sz="720" dirty="0"/>
          </a:p>
        </p:txBody>
      </p:sp>
      <p:sp>
        <p:nvSpPr>
          <p:cNvPr id="16" name="Text 13"/>
          <p:cNvSpPr/>
          <p:nvPr/>
        </p:nvSpPr>
        <p:spPr>
          <a:xfrm>
            <a:off x="5486400" y="6565392"/>
            <a:ext cx="6217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8A94A6"/>
                </a:solidFill>
              </a:rPr>
              <a:t>Sample event rate reflects analytical sampling; not population prevalence.</a:t>
            </a:r>
            <a:endParaRPr lang="en-US" sz="7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Broader Product Exposure Is Concentrated Among Positive Observations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02920" y="68580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Distinct account-type breadth is an important structural difference.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987552"/>
            <a:ext cx="11201400" cy="0"/>
          </a:xfrm>
          <a:prstGeom prst="line">
            <a:avLst/>
          </a:prstGeom>
          <a:noFill/>
          <a:ln w="10160">
            <a:solidFill>
              <a:srgbClr val="D1D5DB"/>
            </a:solidFill>
            <a:prstDash val="solid"/>
          </a:ln>
        </p:spPr>
      </p:sp>
      <p:pic>
        <p:nvPicPr>
          <p:cNvPr id="5" name="Image 0" descr="/mnt/data/eda_polished_charts/product_breadt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234440"/>
            <a:ext cx="6400800" cy="3840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452360" y="1527048"/>
            <a:ext cx="182880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D1D5D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F7A8C"/>
                </a:solidFill>
              </a:rPr>
              <a:t>40.0%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7498080" y="1947672"/>
            <a:ext cx="1737360" cy="338328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11827"/>
                </a:solidFill>
              </a:rPr>
              <a:t>population with 5+ account types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9555480" y="1527048"/>
            <a:ext cx="182880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D1D5D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26B38"/>
                </a:solidFill>
              </a:rPr>
              <a:t>59.0%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9601200" y="1947672"/>
            <a:ext cx="1737360" cy="338328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11827"/>
                </a:solidFill>
              </a:rPr>
              <a:t>positives in 5+ account-type group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406640" y="2834640"/>
            <a:ext cx="3977640" cy="914400"/>
          </a:xfrm>
          <a:prstGeom prst="rect">
            <a:avLst/>
          </a:prstGeom>
          <a:solidFill>
            <a:srgbClr val="F8FAFC"/>
          </a:solidFill>
          <a:ln w="10160">
            <a:solidFill>
              <a:srgbClr val="D1D5DB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</a:rPr>
              <a:t>Product labels are retained at code level unless an authoritative account-type mapping is available. Low-volume account codes should not be interpreted individually.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7498080" y="406908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100" dirty="0">
                <a:solidFill>
                  <a:srgbClr val="111827"/>
                </a:solidFill>
              </a:rPr>
              <a:t>Breadth is descriptive of credit-file structure.</a:t>
            </a:r>
            <a:endParaRPr lang="en-US" sz="1100" dirty="0"/>
          </a:p>
          <a:p>
            <a:pPr marL="152400" indent="-152400">
              <a:buSzPct val="100000"/>
              <a:buChar char="•"/>
            </a:pPr>
            <a:r>
              <a:rPr lang="en-US" sz="1100" dirty="0">
                <a:solidFill>
                  <a:srgbClr val="111827"/>
                </a:solidFill>
              </a:rPr>
              <a:t>This is not yet model feature importance.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02920" y="6565392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8A94A6"/>
                </a:solidFill>
              </a:rPr>
              <a:t>EDA Report · Version 2 polished · 6</a:t>
            </a:r>
            <a:endParaRPr lang="en-US" sz="720" dirty="0"/>
          </a:p>
        </p:txBody>
      </p:sp>
      <p:sp>
        <p:nvSpPr>
          <p:cNvPr id="13" name="Text 10"/>
          <p:cNvSpPr/>
          <p:nvPr/>
        </p:nvSpPr>
        <p:spPr>
          <a:xfrm>
            <a:off x="5486400" y="6565392"/>
            <a:ext cx="6217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8A94A6"/>
                </a:solidFill>
              </a:rPr>
              <a:t>Sample event rate reflects analytical sampling; not population prevalence.</a:t>
            </a:r>
            <a:endParaRPr lang="en-US" sz="7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Behavioral Profiles Are Stable but Structurally Different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02920" y="68580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Population-level averages show persistent exposure differences rather than a sharp pre-event ramp.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987552"/>
            <a:ext cx="11201400" cy="0"/>
          </a:xfrm>
          <a:prstGeom prst="line">
            <a:avLst/>
          </a:prstGeom>
          <a:noFill/>
          <a:ln w="10160">
            <a:solidFill>
              <a:srgbClr val="D1D5DB"/>
            </a:solidFill>
            <a:prstDash val="solid"/>
          </a:ln>
        </p:spPr>
      </p:sp>
      <p:pic>
        <p:nvPicPr>
          <p:cNvPr id="5" name="Image 0" descr="/mnt/data/eda_polished_charts/behavior_acti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143000"/>
            <a:ext cx="5166360" cy="2331720"/>
          </a:xfrm>
          <a:prstGeom prst="rect">
            <a:avLst/>
          </a:prstGeom>
        </p:spPr>
      </p:pic>
      <p:pic>
        <p:nvPicPr>
          <p:cNvPr id="6" name="Image 1" descr="/mnt/data/eda_polished_charts/behavior_balanc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143000"/>
            <a:ext cx="5166360" cy="2331720"/>
          </a:xfrm>
          <a:prstGeom prst="rect">
            <a:avLst/>
          </a:prstGeom>
        </p:spPr>
      </p:pic>
      <p:pic>
        <p:nvPicPr>
          <p:cNvPr id="7" name="Image 2" descr="/mnt/data/eda_polished_charts/behavior_uti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3657600"/>
            <a:ext cx="5166360" cy="2331720"/>
          </a:xfrm>
          <a:prstGeom prst="rect">
            <a:avLst/>
          </a:prstGeom>
        </p:spPr>
      </p:pic>
      <p:pic>
        <p:nvPicPr>
          <p:cNvPr id="8" name="Image 3" descr="/mnt/data/eda_polished_charts/behavior_delinq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3657600"/>
            <a:ext cx="5166360" cy="2331720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822960" y="6144768"/>
            <a:ext cx="10698480" cy="292608"/>
          </a:xfrm>
          <a:prstGeom prst="rect">
            <a:avLst/>
          </a:prstGeom>
          <a:solidFill>
            <a:srgbClr val="F8FAFC"/>
          </a:solidFill>
          <a:ln w="10160">
            <a:solidFill>
              <a:srgbClr val="D1D5DB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</a:rPr>
              <a:t>Key reading: positives maintain higher exposure and balance, but do not exhibit higher traditional credit distress. The target is future qualifying alert placement, not default.</a:t>
            </a:r>
            <a:endParaRPr lang="en-US" sz="1000" dirty="0"/>
          </a:p>
        </p:txBody>
      </p:sp>
      <p:sp>
        <p:nvSpPr>
          <p:cNvPr id="10" name="Text 4"/>
          <p:cNvSpPr/>
          <p:nvPr/>
        </p:nvSpPr>
        <p:spPr>
          <a:xfrm>
            <a:off x="502920" y="6565392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8A94A6"/>
                </a:solidFill>
              </a:rPr>
              <a:t>EDA Report · Version 2 polished · 7</a:t>
            </a:r>
            <a:endParaRPr lang="en-US" sz="720" dirty="0"/>
          </a:p>
        </p:txBody>
      </p:sp>
      <p:sp>
        <p:nvSpPr>
          <p:cNvPr id="11" name="Text 5"/>
          <p:cNvSpPr/>
          <p:nvPr/>
        </p:nvSpPr>
        <p:spPr>
          <a:xfrm>
            <a:off x="5486400" y="6565392"/>
            <a:ext cx="6217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8A94A6"/>
                </a:solidFill>
              </a:rPr>
              <a:t>Sample event rate reflects analytical sampling; not population prevalence.</a:t>
            </a:r>
            <a:endParaRPr lang="en-US" sz="7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Missingness Is Structural, Not Random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02920" y="68580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Availability of behavior measures differs materially by outcome group.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987552"/>
            <a:ext cx="11201400" cy="0"/>
          </a:xfrm>
          <a:prstGeom prst="line">
            <a:avLst/>
          </a:prstGeom>
          <a:noFill/>
          <a:ln w="10160">
            <a:solidFill>
              <a:srgbClr val="D1D5DB"/>
            </a:solidFill>
            <a:prstDash val="solid"/>
          </a:ln>
        </p:spPr>
      </p:sp>
      <p:pic>
        <p:nvPicPr>
          <p:cNvPr id="5" name="Image 0" descr="/mnt/data/eda_polished_charts/availabili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234440"/>
            <a:ext cx="6675120" cy="3977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635240" y="1527048"/>
            <a:ext cx="182880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D1D5D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26B38"/>
                </a:solidFill>
              </a:rPr>
              <a:t>21.7pp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7680960" y="1947672"/>
            <a:ext cx="1737360" cy="292608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11827"/>
                </a:solidFill>
              </a:rPr>
              <a:t>utilization availability gap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9738360" y="1527048"/>
            <a:ext cx="182880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D1D5D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26B38"/>
                </a:solidFill>
              </a:rPr>
              <a:t>17.7pp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9784080" y="1947672"/>
            <a:ext cx="1737360" cy="292608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11827"/>
                </a:solidFill>
              </a:rPr>
              <a:t>balance availability gap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635240" y="2743200"/>
            <a:ext cx="3886200" cy="914400"/>
          </a:xfrm>
          <a:prstGeom prst="rect">
            <a:avLst/>
          </a:prstGeom>
          <a:solidFill>
            <a:srgbClr val="FFF7ED"/>
          </a:solidFill>
          <a:ln w="10160">
            <a:solidFill>
              <a:srgbClr val="D1D5DB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</a:rPr>
              <a:t>Implication: availability flags are necessary because zero-valued behavior and non-computable behavior are not equivalent.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7699248" y="406908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080" dirty="0">
                <a:solidFill>
                  <a:srgbClr val="111827"/>
                </a:solidFill>
              </a:rPr>
              <a:t>Reported accounts and active accounts are 100% available.</a:t>
            </a:r>
            <a:endParaRPr lang="en-US" sz="1080" dirty="0"/>
          </a:p>
          <a:p>
            <a:pPr marL="152400" indent="-152400">
              <a:buSzPct val="100000"/>
              <a:buChar char="•"/>
            </a:pPr>
            <a:r>
              <a:rPr lang="en-US" sz="1080" dirty="0">
                <a:solidFill>
                  <a:srgbClr val="111827"/>
                </a:solidFill>
              </a:rPr>
              <a:t>Balance, past due, delinquency share, and utilization are structurally missing for many thin-file observations.</a:t>
            </a:r>
            <a:endParaRPr lang="en-US" sz="1080" dirty="0"/>
          </a:p>
        </p:txBody>
      </p:sp>
      <p:sp>
        <p:nvSpPr>
          <p:cNvPr id="12" name="Text 9"/>
          <p:cNvSpPr/>
          <p:nvPr/>
        </p:nvSpPr>
        <p:spPr>
          <a:xfrm>
            <a:off x="502920" y="6565392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8A94A6"/>
                </a:solidFill>
              </a:rPr>
              <a:t>EDA Report · Version 2 polished · 8</a:t>
            </a:r>
            <a:endParaRPr lang="en-US" sz="720" dirty="0"/>
          </a:p>
        </p:txBody>
      </p:sp>
      <p:sp>
        <p:nvSpPr>
          <p:cNvPr id="13" name="Text 10"/>
          <p:cNvSpPr/>
          <p:nvPr/>
        </p:nvSpPr>
        <p:spPr>
          <a:xfrm>
            <a:off x="5486400" y="6565392"/>
            <a:ext cx="6217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8A94A6"/>
                </a:solidFill>
              </a:rPr>
              <a:t>Sample event rate reflects analytical sampling; not population prevalence.</a:t>
            </a:r>
            <a:endParaRPr lang="en-US" sz="72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Raw Distributions Are Skewed and Heavy-Tailed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02920" y="68580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Extreme values exist, but logical rules show no invalid data patterns.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987552"/>
            <a:ext cx="11201400" cy="0"/>
          </a:xfrm>
          <a:prstGeom prst="line">
            <a:avLst/>
          </a:prstGeom>
          <a:noFill/>
          <a:ln w="10160">
            <a:solidFill>
              <a:srgbClr val="D1D5DB"/>
            </a:solidFill>
            <a:prstDash val="solid"/>
          </a:ln>
        </p:spPr>
      </p:sp>
      <p:pic>
        <p:nvPicPr>
          <p:cNvPr id="5" name="Image 0" descr="/mnt/data/eda_polished_charts/distributions_tab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143000"/>
            <a:ext cx="6949440" cy="3886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001000" y="1499616"/>
            <a:ext cx="1691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D1D5D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E7D32"/>
                </a:solidFill>
              </a:rPr>
              <a:t>0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8046720" y="1920240"/>
            <a:ext cx="1600200" cy="292608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11827"/>
                </a:solidFill>
              </a:rPr>
              <a:t>logical violations across 8.26M rows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9875520" y="1499616"/>
            <a:ext cx="1691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D1D5D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26B38"/>
                </a:solidFill>
              </a:rPr>
              <a:t>54.17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9921240" y="1920240"/>
            <a:ext cx="1600200" cy="292608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11827"/>
                </a:solidFill>
              </a:rPr>
              <a:t>max avg utilization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8001000" y="2852928"/>
            <a:ext cx="1691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D1D5D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26B38"/>
                </a:solidFill>
              </a:rPr>
              <a:t>$3.66M</a:t>
            </a:r>
            <a:endParaRPr lang="en-US" sz="2100" dirty="0"/>
          </a:p>
        </p:txBody>
      </p:sp>
      <p:sp>
        <p:nvSpPr>
          <p:cNvPr id="11" name="Text 8"/>
          <p:cNvSpPr/>
          <p:nvPr/>
        </p:nvSpPr>
        <p:spPr>
          <a:xfrm>
            <a:off x="8046720" y="3273552"/>
            <a:ext cx="1600200" cy="292608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11827"/>
                </a:solidFill>
              </a:rPr>
              <a:t>max past due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9875520" y="2852928"/>
            <a:ext cx="1691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D1D5D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26B38"/>
                </a:solidFill>
              </a:rPr>
              <a:t>83</a:t>
            </a:r>
            <a:endParaRPr lang="en-US" sz="2100" dirty="0"/>
          </a:p>
        </p:txBody>
      </p:sp>
      <p:sp>
        <p:nvSpPr>
          <p:cNvPr id="13" name="Text 10"/>
          <p:cNvSpPr/>
          <p:nvPr/>
        </p:nvSpPr>
        <p:spPr>
          <a:xfrm>
            <a:off x="9921240" y="3273552"/>
            <a:ext cx="1600200" cy="292608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11827"/>
                </a:solidFill>
              </a:rPr>
              <a:t>max active accounts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8001000" y="4343400"/>
            <a:ext cx="3566160" cy="868680"/>
          </a:xfrm>
          <a:prstGeom prst="rect">
            <a:avLst/>
          </a:prstGeom>
          <a:solidFill>
            <a:srgbClr val="F8FAFC"/>
          </a:solidFill>
          <a:ln w="10160">
            <a:solidFill>
              <a:srgbClr val="D1D5DB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</a:rPr>
              <a:t>Recommendation: handle long tails through robust transformations / outlier treatment during feature engineering rather than automatically removing records.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02920" y="6565392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8A94A6"/>
                </a:solidFill>
              </a:rPr>
              <a:t>EDA Report · Version 2 polished · 9</a:t>
            </a:r>
            <a:endParaRPr lang="en-US" sz="720" dirty="0"/>
          </a:p>
        </p:txBody>
      </p:sp>
      <p:sp>
        <p:nvSpPr>
          <p:cNvPr id="16" name="Text 13"/>
          <p:cNvSpPr/>
          <p:nvPr/>
        </p:nvSpPr>
        <p:spPr>
          <a:xfrm>
            <a:off x="5486400" y="6565392"/>
            <a:ext cx="6217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8A94A6"/>
                </a:solidFill>
              </a:rPr>
              <a:t>Sample event rate reflects analytical sampling; not population prevalence.</a:t>
            </a:r>
            <a:endParaRPr lang="en-US" sz="7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Point-in-Time and Panel Integrity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02920" y="68580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The behavioral construction is complete, temporally aligned, and free of observable leakage.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987552"/>
            <a:ext cx="11201400" cy="0"/>
          </a:xfrm>
          <a:prstGeom prst="line">
            <a:avLst/>
          </a:prstGeom>
          <a:noFill/>
          <a:ln w="10160">
            <a:solidFill>
              <a:srgbClr val="D1D5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3444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F7A8C"/>
                </a:solidFill>
              </a:rPr>
              <a:t>12-MONTH ANALYTICAL PANEL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6400800" y="123444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F7A8C"/>
                </a:solidFill>
              </a:rPr>
              <a:t>UNDERLYING TRADE EXTRACTION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777240" y="160020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</a:rPr>
              <a:t>Parties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206240" y="157276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E7D32"/>
                </a:solidFill>
              </a:rPr>
              <a:t>688,589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77240" y="1947672"/>
            <a:ext cx="4572000" cy="0"/>
          </a:xfrm>
          <a:prstGeom prst="line">
            <a:avLst/>
          </a:prstGeom>
          <a:noFill/>
          <a:ln w="762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075688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</a:rPr>
              <a:t>Party-month rows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206240" y="2048256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E7D32"/>
                </a:solidFill>
              </a:rPr>
              <a:t>8,263,068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77240" y="2423160"/>
            <a:ext cx="4572000" cy="0"/>
          </a:xfrm>
          <a:prstGeom prst="line">
            <a:avLst/>
          </a:prstGeom>
          <a:noFill/>
          <a:ln w="762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2551176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</a:rPr>
              <a:t>Parties not 12 months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206240" y="2523744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E7D32"/>
                </a:solidFill>
              </a:rPr>
              <a:t>0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77240" y="2898648"/>
            <a:ext cx="4572000" cy="0"/>
          </a:xfrm>
          <a:prstGeom prst="line">
            <a:avLst/>
          </a:prstGeom>
          <a:noFill/>
          <a:ln w="762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3026664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</a:rPr>
              <a:t>Missing / duplicate offsets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206240" y="299923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E7D32"/>
                </a:solidFill>
              </a:rPr>
              <a:t>0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77240" y="3374136"/>
            <a:ext cx="4572000" cy="0"/>
          </a:xfrm>
          <a:prstGeom prst="line">
            <a:avLst/>
          </a:prstGeom>
          <a:noFill/>
          <a:ln w="762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3502152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</a:rPr>
              <a:t>Future feature months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206240" y="347472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E7D32"/>
                </a:solidFill>
              </a:rPr>
              <a:t>0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77240" y="3849624"/>
            <a:ext cx="4572000" cy="0"/>
          </a:xfrm>
          <a:prstGeom prst="line">
            <a:avLst/>
          </a:prstGeom>
          <a:noFill/>
          <a:ln w="762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397764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</a:rPr>
              <a:t>Invalid window mapping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206240" y="395020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E7D32"/>
                </a:solidFill>
              </a:rPr>
              <a:t>0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77240" y="4325112"/>
            <a:ext cx="4572000" cy="0"/>
          </a:xfrm>
          <a:prstGeom prst="line">
            <a:avLst/>
          </a:prstGeom>
          <a:noFill/>
          <a:ln w="7620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0" y="160020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</a:rPr>
              <a:t>Trade rows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829800" y="157276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E7D32"/>
                </a:solidFill>
              </a:rPr>
              <a:t>98,051,779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400800" y="1947672"/>
            <a:ext cx="4572000" cy="0"/>
          </a:xfrm>
          <a:prstGeom prst="line">
            <a:avLst/>
          </a:prstGeom>
          <a:noFill/>
          <a:ln w="7620">
            <a:solidFill>
              <a:srgbClr val="E5E7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0" y="2075688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</a:rPr>
              <a:t>data_date &gt; observation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829800" y="2048256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E7D32"/>
                </a:solidFill>
              </a:rPr>
              <a:t>0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400800" y="2423160"/>
            <a:ext cx="4572000" cy="0"/>
          </a:xfrm>
          <a:prstGeom prst="line">
            <a:avLst/>
          </a:prstGeom>
          <a:noFill/>
          <a:ln w="7620">
            <a:solidFill>
              <a:srgbClr val="E5E7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0" y="2551176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</a:rPr>
              <a:t>feature_month &gt; observation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829800" y="2523744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E7D32"/>
                </a:solidFill>
              </a:rPr>
              <a:t>0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400800" y="2898648"/>
            <a:ext cx="4572000" cy="0"/>
          </a:xfrm>
          <a:prstGeom prst="line">
            <a:avLst/>
          </a:prstGeom>
          <a:noFill/>
          <a:ln w="7620">
            <a:solidFill>
              <a:srgbClr val="E5E7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00800" y="3026664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</a:rPr>
              <a:t>eff_dte &gt; data_date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9829800" y="299923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E7D32"/>
                </a:solidFill>
              </a:rPr>
              <a:t>0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400800" y="3374136"/>
            <a:ext cx="4572000" cy="0"/>
          </a:xfrm>
          <a:prstGeom prst="line">
            <a:avLst/>
          </a:prstGeom>
          <a:noFill/>
          <a:ln w="7620">
            <a:solidFill>
              <a:srgbClr val="E5E7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00800" y="3502152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</a:rPr>
              <a:t>eff_dte &gt; observation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9829800" y="347472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E7D32"/>
                </a:solidFill>
              </a:rPr>
              <a:t>0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400800" y="3849624"/>
            <a:ext cx="4572000" cy="0"/>
          </a:xfrm>
          <a:prstGeom prst="line">
            <a:avLst/>
          </a:prstGeom>
          <a:noFill/>
          <a:ln w="7620">
            <a:solidFill>
              <a:srgbClr val="E5E7E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00800" y="397764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</a:rPr>
              <a:t>data month misaligned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9829800" y="395020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E7D32"/>
                </a:solidFill>
              </a:rPr>
              <a:t>0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400800" y="4325112"/>
            <a:ext cx="4572000" cy="0"/>
          </a:xfrm>
          <a:prstGeom prst="line">
            <a:avLst/>
          </a:prstGeom>
          <a:noFill/>
          <a:ln w="7620">
            <a:solidFill>
              <a:srgbClr val="E5E7E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14400" y="4800600"/>
            <a:ext cx="10058400" cy="502920"/>
          </a:xfrm>
          <a:prstGeom prst="rect">
            <a:avLst/>
          </a:prstGeom>
          <a:solidFill>
            <a:srgbClr val="F8FAFC"/>
          </a:solidFill>
          <a:ln w="10160">
            <a:solidFill>
              <a:srgbClr val="D1D5DB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</a:rPr>
              <a:t>Offsets 0–11 represent the analytical history. Offset 12 exists only as the technical seed used for transition calculations.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160520" y="5532120"/>
            <a:ext cx="3931920" cy="411480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POINT-IN-TIME INTEGRITY: PASS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502920" y="6565392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8A94A6"/>
                </a:solidFill>
              </a:rPr>
              <a:t>EDA Report · Version 2 polished · 10</a:t>
            </a:r>
            <a:endParaRPr lang="en-US" sz="720" dirty="0"/>
          </a:p>
        </p:txBody>
      </p:sp>
      <p:sp>
        <p:nvSpPr>
          <p:cNvPr id="46" name="Text 44"/>
          <p:cNvSpPr/>
          <p:nvPr/>
        </p:nvSpPr>
        <p:spPr>
          <a:xfrm>
            <a:off x="5486400" y="6565392"/>
            <a:ext cx="6217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8A94A6"/>
                </a:solidFill>
              </a:rPr>
              <a:t>Sample event rate reflects analytical sampling; not population prevalence.</a:t>
            </a:r>
            <a:endParaRPr lang="en-US" sz="7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EDA Readiness Assessment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02920" y="68580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The dataset is ready for feature validation and model development with documented limitations.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987552"/>
            <a:ext cx="11201400" cy="0"/>
          </a:xfrm>
          <a:prstGeom prst="line">
            <a:avLst/>
          </a:prstGeom>
          <a:noFill/>
          <a:ln w="10160">
            <a:solidFill>
              <a:srgbClr val="D1D5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170432"/>
            <a:ext cx="3291840" cy="256032"/>
          </a:xfrm>
          <a:prstGeom prst="rect">
            <a:avLst/>
          </a:prstGeom>
          <a:solidFill>
            <a:srgbClr val="0B1F3A"/>
          </a:solidFill>
          <a:ln/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Dimension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977640" y="1170432"/>
            <a:ext cx="1828800" cy="256032"/>
          </a:xfrm>
          <a:prstGeom prst="rect">
            <a:avLst/>
          </a:prstGeom>
          <a:solidFill>
            <a:srgbClr val="0B1F3A"/>
          </a:solidFill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Assessment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806440" y="1170432"/>
            <a:ext cx="5669280" cy="256032"/>
          </a:xfrm>
          <a:prstGeom prst="rect">
            <a:avLst/>
          </a:prstGeom>
          <a:solidFill>
            <a:srgbClr val="0B1F3A"/>
          </a:solidFill>
          <a:ln/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Comment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1463040"/>
            <a:ext cx="329184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</a:rPr>
              <a:t>Analytical cohort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977640" y="1463040"/>
            <a:ext cx="182880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E7D32"/>
                </a:solidFill>
              </a:rPr>
              <a:t>PASS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806440" y="1463040"/>
            <a:ext cx="566928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</a:rPr>
              <a:t>One party / one observation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85800" y="1874520"/>
            <a:ext cx="3291840" cy="301752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</a:ln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</a:rPr>
              <a:t>Outcome integrity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977640" y="1874520"/>
            <a:ext cx="1828800" cy="301752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E7D32"/>
                </a:solidFill>
              </a:rPr>
              <a:t>PASS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806440" y="1874520"/>
            <a:ext cx="5669280" cy="301752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</a:ln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</a:rPr>
              <a:t>0 label violations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85800" y="2286000"/>
            <a:ext cx="329184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</a:rPr>
              <a:t>Calendar completeness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977640" y="2286000"/>
            <a:ext cx="182880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E7D32"/>
                </a:solidFill>
              </a:rPr>
              <a:t>PASS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806440" y="2286000"/>
            <a:ext cx="566928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</a:rPr>
              <a:t>48 consecutive months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85800" y="2697480"/>
            <a:ext cx="3291840" cy="301752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</a:ln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</a:rPr>
              <a:t>Behavioral panel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977640" y="2697480"/>
            <a:ext cx="1828800" cy="301752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E7D32"/>
                </a:solidFill>
              </a:rPr>
              <a:t>PASS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806440" y="2697480"/>
            <a:ext cx="5669280" cy="301752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</a:ln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</a:rPr>
              <a:t>Complete 12-month history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85800" y="3108960"/>
            <a:ext cx="329184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</a:rPr>
              <a:t>Point-in-time integrity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977640" y="3108960"/>
            <a:ext cx="182880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E7D32"/>
                </a:solidFill>
              </a:rPr>
              <a:t>PASS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806440" y="3108960"/>
            <a:ext cx="566928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</a:rPr>
              <a:t>0 future-data violations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85800" y="3520440"/>
            <a:ext cx="3291840" cy="301752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</a:ln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</a:rPr>
              <a:t>Logical consistency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977640" y="3520440"/>
            <a:ext cx="1828800" cy="301752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E7D32"/>
                </a:solidFill>
              </a:rPr>
              <a:t>PASS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806440" y="3520440"/>
            <a:ext cx="5669280" cy="301752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</a:ln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</a:rPr>
              <a:t>0 violations across 8.26M rows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85800" y="3931920"/>
            <a:ext cx="329184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</a:rPr>
              <a:t>Missingness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977640" y="3931920"/>
            <a:ext cx="182880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7A8C"/>
                </a:solidFill>
              </a:rPr>
              <a:t>DOCUMENTED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806440" y="3931920"/>
            <a:ext cx="566928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</a:rPr>
              <a:t>Structural, not random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85800" y="4343400"/>
            <a:ext cx="3291840" cy="301752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</a:ln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</a:rPr>
              <a:t>Outliers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977640" y="4343400"/>
            <a:ext cx="1828800" cy="301752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7A8C"/>
                </a:solidFill>
              </a:rPr>
              <a:t>MANAGEABLE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806440" y="4343400"/>
            <a:ext cx="5669280" cy="301752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</a:ln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</a:rPr>
              <a:t>Long tails require robust handling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85800" y="4754880"/>
            <a:ext cx="329184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</a:rPr>
              <a:t>True tenure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977640" y="4754880"/>
            <a:ext cx="182880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26B38"/>
                </a:solidFill>
              </a:rPr>
              <a:t>LIMITATION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806440" y="4754880"/>
            <a:ext cx="566928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</a:rPr>
              <a:t>Not available from current source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85800" y="5166360"/>
            <a:ext cx="3291840" cy="301752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</a:ln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</a:rPr>
              <a:t>Source left-censoring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977640" y="5166360"/>
            <a:ext cx="1828800" cy="301752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26B38"/>
                </a:solidFill>
              </a:rPr>
              <a:t>LIMITATION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806440" y="5166360"/>
            <a:ext cx="5669280" cy="301752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</a:ln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</a:rPr>
              <a:t>Material source-boundary effect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777240" y="5806440"/>
            <a:ext cx="10652760" cy="457200"/>
          </a:xfrm>
          <a:prstGeom prst="rect">
            <a:avLst/>
          </a:prstGeom>
          <a:solidFill>
            <a:srgbClr val="F0F9FF"/>
          </a:solidFill>
          <a:ln w="10160">
            <a:solidFill>
              <a:srgbClr val="D1D5DB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</a:rPr>
              <a:t>Executive conclusion: no blocking cohort, label, temporal, or logical data-quality issues were identified. Remaining considerations are methodological and should be carried into feature validation and model development.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02920" y="6565392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8A94A6"/>
                </a:solidFill>
              </a:rPr>
              <a:t>EDA Report · Version 2 polished · 11</a:t>
            </a:r>
            <a:endParaRPr lang="en-US" sz="720" dirty="0"/>
          </a:p>
        </p:txBody>
      </p:sp>
      <p:sp>
        <p:nvSpPr>
          <p:cNvPr id="40" name="Text 38"/>
          <p:cNvSpPr/>
          <p:nvPr/>
        </p:nvSpPr>
        <p:spPr>
          <a:xfrm>
            <a:off x="5486400" y="6565392"/>
            <a:ext cx="6217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8A94A6"/>
                </a:solidFill>
              </a:rPr>
              <a:t>Sample event rate reflects analytical sampling; not population prevalence.</a:t>
            </a:r>
            <a:endParaRPr lang="en-US" sz="7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Fraud Alert Vulnerability — EDA Data Readiness</dc:title>
  <dc:subject>Fraud Alert Vulnerability — EDA Data Readiness</dc:subject>
  <dc:creator>OpenAI</dc:creator>
  <cp:lastModifiedBy>OpenAI</cp:lastModifiedBy>
  <cp:revision>1</cp:revision>
  <dcterms:created xsi:type="dcterms:W3CDTF">2026-10-02T15:55:53Z</dcterms:created>
  <dcterms:modified xsi:type="dcterms:W3CDTF">2026-10-02T15:55:53Z</dcterms:modified>
</cp:coreProperties>
</file>
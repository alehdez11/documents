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0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Available</c:v>
                </c:pt>
              </c:strCache>
            </c:strRef>
          </c:tx>
          <c:spPr>
            <a:solidFill>
              <a:srgbClr val="1D9A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Active Z</c:v>
                  </c:pt>
                  <c:pt idx="1">
                    <c:v>Avg util Z</c:v>
                  </c:pt>
                  <c:pt idx="2">
                    <c:v>Weighted util Z</c:v>
                  </c:pt>
                  <c:pt idx="3">
                    <c:v>Balance change</c:v>
                  </c:pt>
                  <c:pt idx="4">
                    <c:v>Past due change</c:v>
                  </c:pt>
                  <c:pt idx="5">
                    <c:v>Delinq. change</c:v>
                  </c:pt>
                  <c:pt idx="6">
                    <c:v>Util change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11.928</c:v>
                </c:pt>
                <c:pt idx="1">
                  <c:v>12.309</c:v>
                </c:pt>
                <c:pt idx="2">
                  <c:v>12.309</c:v>
                </c:pt>
                <c:pt idx="3">
                  <c:v>10.933</c:v>
                </c:pt>
                <c:pt idx="4">
                  <c:v>10.932</c:v>
                </c:pt>
                <c:pt idx="5">
                  <c:v>10.732</c:v>
                </c:pt>
                <c:pt idx="6">
                  <c:v>11.672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Not available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Active Z</c:v>
                  </c:pt>
                  <c:pt idx="1">
                    <c:v>Avg util Z</c:v>
                  </c:pt>
                  <c:pt idx="2">
                    <c:v>Weighted util Z</c:v>
                  </c:pt>
                  <c:pt idx="3">
                    <c:v>Balance change</c:v>
                  </c:pt>
                  <c:pt idx="4">
                    <c:v>Past due change</c:v>
                  </c:pt>
                  <c:pt idx="5">
                    <c:v>Delinq. change</c:v>
                  </c:pt>
                  <c:pt idx="6">
                    <c:v>Util change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4.566</c:v>
                </c:pt>
                <c:pt idx="1">
                  <c:v>3.693</c:v>
                </c:pt>
                <c:pt idx="2">
                  <c:v>3.694</c:v>
                </c:pt>
                <c:pt idx="3">
                  <c:v>1.525</c:v>
                </c:pt>
                <c:pt idx="4">
                  <c:v>1.525</c:v>
                </c:pt>
                <c:pt idx="5">
                  <c:v>1.608</c:v>
                </c:pt>
                <c:pt idx="6">
                  <c:v>2.74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0"/>
        </c:scaling>
        <c:delete val="0"/>
        <c:axPos val="b"/>
        <c:majorGridlines>
          <c:spPr>
            <a:ln w="12700" cap="flat">
              <a:solidFill>
                <a:srgbClr val="E4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 rate</c:v>
                </c:pt>
              </c:strCache>
            </c:strRef>
          </c:tx>
          <c:spPr>
            <a:solidFill>
              <a:srgbClr val="1E5A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Negative change</c:v>
                  </c:pt>
                  <c:pt idx="1">
                    <c:v>No change</c:v>
                  </c:pt>
                  <c:pt idx="2">
                    <c:v>Positive change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11.419</c:v>
                </c:pt>
                <c:pt idx="1">
                  <c:v>4.573</c:v>
                </c:pt>
                <c:pt idx="2">
                  <c:v>11.822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 rate</c:v>
                </c:pt>
              </c:strCache>
            </c:strRef>
          </c:tx>
          <c:spPr>
            <a:solidFill>
              <a:srgbClr val="1D9A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Changed</c:v>
                  </c:pt>
                  <c:pt idx="1">
                    <c:v>No change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11.632</c:v>
                </c:pt>
                <c:pt idx="1">
                  <c:v>4.573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Signed balance change</c:v>
                </c:pt>
              </c:strCache>
            </c:strRef>
          </c:tx>
          <c:spPr>
            <a:solidFill>
              <a:srgbClr val="6B7280"/>
            </a:solidFill>
            <a:ln w="25400" cap="flat">
              <a:solidFill>
                <a:srgbClr val="6B728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B7280"/>
              </a:solidFill>
              <a:ln w="9525" cap="flat">
                <a:solidFill>
                  <a:srgbClr val="6B728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D1</c:v>
                  </c:pt>
                  <c:pt idx="1">
                    <c:v>D2</c:v>
                  </c:pt>
                  <c:pt idx="2">
                    <c:v>D3</c:v>
                  </c:pt>
                  <c:pt idx="3">
                    <c:v>D4</c:v>
                  </c:pt>
                  <c:pt idx="4">
                    <c:v>D5</c:v>
                  </c:pt>
                  <c:pt idx="5">
                    <c:v>D6</c:v>
                  </c:pt>
                  <c:pt idx="6">
                    <c:v>D7</c:v>
                  </c:pt>
                  <c:pt idx="7">
                    <c:v>D8</c:v>
                  </c:pt>
                  <c:pt idx="8">
                    <c:v>D9</c:v>
                  </c:pt>
                  <c:pt idx="9">
                    <c:v>D10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13.707</c:v>
                </c:pt>
                <c:pt idx="1">
                  <c:v>11.73</c:v>
                </c:pt>
                <c:pt idx="2">
                  <c:v>10.92</c:v>
                </c:pt>
                <c:pt idx="3">
                  <c:v>10.939</c:v>
                </c:pt>
                <c:pt idx="4">
                  <c:v>10.763</c:v>
                </c:pt>
                <c:pt idx="5">
                  <c:v>7.002</c:v>
                </c:pt>
                <c:pt idx="6">
                  <c:v>10.106</c:v>
                </c:pt>
                <c:pt idx="7">
                  <c:v>10.641</c:v>
                </c:pt>
                <c:pt idx="8">
                  <c:v>11.52</c:v>
                </c:pt>
                <c:pt idx="9">
                  <c:v>12.008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Log-abs balance magnitude</c:v>
                </c:pt>
              </c:strCache>
            </c:strRef>
          </c:tx>
          <c:spPr>
            <a:solidFill>
              <a:srgbClr val="1D9A8A"/>
            </a:solidFill>
            <a:ln w="25400" cap="flat">
              <a:solidFill>
                <a:srgbClr val="1D9A8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D9A8A"/>
              </a:solidFill>
              <a:ln w="9525" cap="flat">
                <a:solidFill>
                  <a:srgbClr val="1D9A8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D1</c:v>
                  </c:pt>
                  <c:pt idx="1">
                    <c:v>D2</c:v>
                  </c:pt>
                  <c:pt idx="2">
                    <c:v>D3</c:v>
                  </c:pt>
                  <c:pt idx="3">
                    <c:v>D4</c:v>
                  </c:pt>
                  <c:pt idx="4">
                    <c:v>D5</c:v>
                  </c:pt>
                  <c:pt idx="5">
                    <c:v>D6</c:v>
                  </c:pt>
                  <c:pt idx="6">
                    <c:v>D7</c:v>
                  </c:pt>
                  <c:pt idx="7">
                    <c:v>D8</c:v>
                  </c:pt>
                  <c:pt idx="8">
                    <c:v>D9</c:v>
                  </c:pt>
                  <c:pt idx="9">
                    <c:v>D10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6.942</c:v>
                </c:pt>
                <c:pt idx="1">
                  <c:v>10.184</c:v>
                </c:pt>
                <c:pt idx="2">
                  <c:v>10.736</c:v>
                </c:pt>
                <c:pt idx="3">
                  <c:v>10.689</c:v>
                </c:pt>
                <c:pt idx="4">
                  <c:v>10.946</c:v>
                </c:pt>
                <c:pt idx="5">
                  <c:v>10.897</c:v>
                </c:pt>
                <c:pt idx="6">
                  <c:v>11.379</c:v>
                </c:pt>
                <c:pt idx="7">
                  <c:v>11.854</c:v>
                </c:pt>
                <c:pt idx="8">
                  <c:v>12.708</c:v>
                </c:pt>
                <c:pt idx="9">
                  <c:v>12.999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"/>
          <c:min val="5"/>
        </c:scaling>
        <c:delete val="0"/>
        <c:axPos val="l"/>
        <c:majorGridlines>
          <c:spPr>
            <a:ln w="12700" cap="flat">
              <a:solidFill>
                <a:srgbClr val="E7ED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utilization change</c:v>
                </c:pt>
              </c:strCache>
            </c:strRef>
          </c:tx>
          <c:spPr>
            <a:solidFill>
              <a:srgbClr val="D87922"/>
            </a:solidFill>
            <a:ln w="25400" cap="flat">
              <a:solidFill>
                <a:srgbClr val="D8792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87922"/>
              </a:solidFill>
              <a:ln w="9525" cap="flat">
                <a:solidFill>
                  <a:srgbClr val="D8792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D1</c:v>
                  </c:pt>
                  <c:pt idx="1">
                    <c:v>D2</c:v>
                  </c:pt>
                  <c:pt idx="2">
                    <c:v>D3</c:v>
                  </c:pt>
                  <c:pt idx="3">
                    <c:v>D4</c:v>
                  </c:pt>
                  <c:pt idx="4">
                    <c:v>D5</c:v>
                  </c:pt>
                  <c:pt idx="5">
                    <c:v>D6</c:v>
                  </c:pt>
                  <c:pt idx="6">
                    <c:v>D7</c:v>
                  </c:pt>
                  <c:pt idx="7">
                    <c:v>D8</c:v>
                  </c:pt>
                  <c:pt idx="8">
                    <c:v>D9</c:v>
                  </c:pt>
                  <c:pt idx="9">
                    <c:v>D10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9.822</c:v>
                </c:pt>
                <c:pt idx="1">
                  <c:v>11.298</c:v>
                </c:pt>
                <c:pt idx="2">
                  <c:v>12.871</c:v>
                </c:pt>
                <c:pt idx="3">
                  <c:v>14.066</c:v>
                </c:pt>
                <c:pt idx="4">
                  <c:v>12.444</c:v>
                </c:pt>
                <c:pt idx="5">
                  <c:v>11.578</c:v>
                </c:pt>
                <c:pt idx="6">
                  <c:v>13.137</c:v>
                </c:pt>
                <c:pt idx="7">
                  <c:v>11.952</c:v>
                </c:pt>
                <c:pt idx="8">
                  <c:v>10.774</c:v>
                </c:pt>
                <c:pt idx="9">
                  <c:v>8.774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utilization Z</c:v>
                </c:pt>
              </c:strCache>
            </c:strRef>
          </c:tx>
          <c:spPr>
            <a:solidFill>
              <a:srgbClr val="1E5A8A"/>
            </a:solidFill>
            <a:ln w="25400" cap="flat">
              <a:solidFill>
                <a:srgbClr val="1E5A8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5A8A"/>
              </a:solidFill>
              <a:ln w="9525" cap="flat">
                <a:solidFill>
                  <a:srgbClr val="1E5A8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D1</c:v>
                  </c:pt>
                  <c:pt idx="1">
                    <c:v>D2</c:v>
                  </c:pt>
                  <c:pt idx="2">
                    <c:v>D3</c:v>
                  </c:pt>
                  <c:pt idx="3">
                    <c:v>D4</c:v>
                  </c:pt>
                  <c:pt idx="4">
                    <c:v>D5</c:v>
                  </c:pt>
                  <c:pt idx="5">
                    <c:v>D6</c:v>
                  </c:pt>
                  <c:pt idx="6">
                    <c:v>D7</c:v>
                  </c:pt>
                  <c:pt idx="7">
                    <c:v>D8</c:v>
                  </c:pt>
                  <c:pt idx="8">
                    <c:v>D9</c:v>
                  </c:pt>
                  <c:pt idx="9">
                    <c:v>D10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10.698</c:v>
                </c:pt>
                <c:pt idx="1">
                  <c:v>12.722</c:v>
                </c:pt>
                <c:pt idx="2">
                  <c:v>13.165</c:v>
                </c:pt>
                <c:pt idx="3">
                  <c:v>13.244</c:v>
                </c:pt>
                <c:pt idx="4">
                  <c:v>13.624</c:v>
                </c:pt>
                <c:pt idx="5">
                  <c:v>13.16</c:v>
                </c:pt>
                <c:pt idx="6">
                  <c:v>12.047</c:v>
                </c:pt>
                <c:pt idx="7">
                  <c:v>11.533</c:v>
                </c:pt>
                <c:pt idx="8">
                  <c:v>11.371</c:v>
                </c:pt>
                <c:pt idx="9">
                  <c:v>11.531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"/>
          <c:min val="8"/>
        </c:scaling>
        <c:delete val="0"/>
        <c:axPos val="l"/>
        <c:majorGridlines>
          <c:spPr>
            <a:ln w="12700" cap="flat">
              <a:solidFill>
                <a:srgbClr val="E7ED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 rate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Deterioration +</c:v>
                  </c:pt>
                  <c:pt idx="1">
                    <c:v>Deterioration 0</c:v>
                  </c:pt>
                  <c:pt idx="2">
                    <c:v>Adverse +</c:v>
                  </c:pt>
                  <c:pt idx="3">
                    <c:v>Adverse 0</c:v>
                  </c:pt>
                  <c:pt idx="4">
                    <c:v>DPD jump 1</c:v>
                  </c:pt>
                  <c:pt idx="5">
                    <c:v>DPD jump 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7.76</c:v>
                </c:pt>
                <c:pt idx="1">
                  <c:v>9.27</c:v>
                </c:pt>
                <c:pt idx="2">
                  <c:v>7.58</c:v>
                </c:pt>
                <c:pt idx="3">
                  <c:v>9.18</c:v>
                </c:pt>
                <c:pt idx="4">
                  <c:v>7.61</c:v>
                </c:pt>
                <c:pt idx="5">
                  <c:v>9.2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 rate</c:v>
                </c:pt>
              </c:strCache>
            </c:strRef>
          </c:tx>
          <c:spPr>
            <a:solidFill>
              <a:srgbClr val="D879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Past due Missing</c:v>
                  </c:pt>
                  <c:pt idx="1">
                    <c:v>Past due Zero</c:v>
                  </c:pt>
                  <c:pt idx="2">
                    <c:v>Past due Positive</c:v>
                  </c:pt>
                  <c:pt idx="3">
                    <c:v>Delinq Missing</c:v>
                  </c:pt>
                  <c:pt idx="4">
                    <c:v>Delinq Zero</c:v>
                  </c:pt>
                  <c:pt idx="5">
                    <c:v>Delinq Positive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1.53</c:v>
                </c:pt>
                <c:pt idx="1">
                  <c:v>11.48</c:v>
                </c:pt>
                <c:pt idx="2">
                  <c:v>7.41</c:v>
                </c:pt>
                <c:pt idx="3">
                  <c:v>1.61</c:v>
                </c:pt>
                <c:pt idx="4">
                  <c:v>11.2</c:v>
                </c:pt>
                <c:pt idx="5">
                  <c:v>7.55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 rate</c:v>
                </c:pt>
              </c:strCache>
            </c:strRef>
          </c:tx>
          <c:spPr>
            <a:solidFill>
              <a:srgbClr val="1D9A8A"/>
            </a:solidFill>
            <a:ln w="25400" cap="flat">
              <a:solidFill>
                <a:srgbClr val="1D9A8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D9A8A"/>
              </a:solidFill>
              <a:ln w="9525" cap="flat">
                <a:solidFill>
                  <a:srgbClr val="1D9A8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1.048</c:v>
                </c:pt>
                <c:pt idx="1">
                  <c:v>3.784</c:v>
                </c:pt>
                <c:pt idx="2">
                  <c:v>6.425</c:v>
                </c:pt>
                <c:pt idx="3">
                  <c:v>9.431</c:v>
                </c:pt>
                <c:pt idx="4">
                  <c:v>12.014</c:v>
                </c:pt>
                <c:pt idx="5">
                  <c:v>13.609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"/>
          <c:min val="0"/>
        </c:scaling>
        <c:delete val="0"/>
        <c:axPos val="l"/>
        <c:majorGridlines>
          <c:spPr>
            <a:ln w="12700" cap="flat">
              <a:solidFill>
                <a:srgbClr val="E7ED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3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negatives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17.718</c:v>
                </c:pt>
                <c:pt idx="1">
                  <c:v>4.265</c:v>
                </c:pt>
                <c:pt idx="2">
                  <c:v>16.264</c:v>
                </c:pt>
                <c:pt idx="3">
                  <c:v>8.252</c:v>
                </c:pt>
                <c:pt idx="4">
                  <c:v>36.196</c:v>
                </c:pt>
                <c:pt idx="5">
                  <c:v>17.304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positives</c:v>
                </c:pt>
              </c:strCache>
            </c:strRef>
          </c:tx>
          <c:spPr>
            <a:solidFill>
              <a:srgbClr val="1D9A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1.877</c:v>
                </c:pt>
                <c:pt idx="1">
                  <c:v>1.677</c:v>
                </c:pt>
                <c:pt idx="2">
                  <c:v>11.168</c:v>
                </c:pt>
                <c:pt idx="3">
                  <c:v>8.593</c:v>
                </c:pt>
                <c:pt idx="4">
                  <c:v>49.426</c:v>
                </c:pt>
                <c:pt idx="5">
                  <c:v>27.259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</c:v>
                </c:pt>
              </c:strCache>
            </c:strRef>
          </c:tx>
          <c:spPr>
            <a:solidFill>
              <a:srgbClr val="1E5A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Avg vs weighted util change</c:v>
                  </c:pt>
                  <c:pt idx="1">
                    <c:v>Avg vs weighted util Z</c:v>
                  </c:pt>
                  <c:pt idx="2">
                    <c:v>Active change vs Active Z</c:v>
                  </c:pt>
                  <c:pt idx="3">
                    <c:v>Avg util change vs Avg util Z</c:v>
                  </c:pt>
                  <c:pt idx="4">
                    <c:v>Signed vs log-abs balance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0.93</c:v>
                </c:pt>
                <c:pt idx="1">
                  <c:v>0.858</c:v>
                </c:pt>
                <c:pt idx="2">
                  <c:v>0.806</c:v>
                </c:pt>
                <c:pt idx="3">
                  <c:v>0.631</c:v>
                </c:pt>
                <c:pt idx="4">
                  <c:v>0.054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7830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Fraud Alert Vulnerability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04088" y="237744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9A8A"/>
                </a:solidFill>
              </a:rPr>
              <a:t>Engineered Feature Validation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13232" y="283464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</a:rPr>
              <a:t>Behavioral separation, signal shape, availability effects, redundancy and feature readiness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1520" y="3401568"/>
            <a:ext cx="76809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749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</a:rPr>
              <a:t>Scope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4069080"/>
            <a:ext cx="84124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82230"/>
                </a:solidFill>
              </a:rPr>
              <a:t>Validate engineered features before predictive model evaluation. No model scores, thresholds or temporal split performance are included in this report.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4846320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4896612"/>
            <a:ext cx="1682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B1F3A"/>
                </a:solidFill>
              </a:rPr>
              <a:t>Feature-level evidence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2788920" y="4846320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FEF2E3"/>
          </a:solidFill>
          <a:ln w="12700">
            <a:solidFill>
              <a:srgbClr val="FEF2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62072" y="4896612"/>
            <a:ext cx="1682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D87922"/>
                </a:solidFill>
              </a:rPr>
              <a:t>No model performance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4846320" y="4846320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4896612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B7280"/>
                </a:solidFill>
              </a:rPr>
              <a:t>No thresholding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10607040" y="626364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Version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Engineering Framework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Features were designed to compare recent behavior against prior history and preserve information availability.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0642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73952"/>
            <a:ext cx="11064240" cy="0"/>
          </a:xfrm>
          <a:prstGeom prst="line">
            <a:avLst/>
          </a:prstGeom>
          <a:noFill/>
          <a:ln w="9525">
            <a:solidFill>
              <a:srgbClr val="E6EB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65392"/>
            <a:ext cx="5943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280"/>
                </a:solidFill>
              </a:rPr>
              <a:t>Fraud Alert Vulnerability • Engineered Feature Validation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11064240" y="6565392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B7280"/>
                </a:solidFill>
              </a:rPr>
              <a:t>02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685800" y="11704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12-month behavioral history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536192"/>
            <a:ext cx="4754880" cy="438912"/>
          </a:xfrm>
          <a:prstGeom prst="roundRect">
            <a:avLst>
              <a:gd name="adj" fmla="val 12500"/>
            </a:avLst>
          </a:prstGeom>
          <a:solidFill>
            <a:srgbClr val="EAF3FA"/>
          </a:solidFill>
          <a:ln w="12700">
            <a:solidFill>
              <a:srgbClr val="C7D9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82496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5A8A"/>
                </a:solidFill>
              </a:rPr>
              <a:t>PRIOR 9M baseline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532120" y="1536192"/>
            <a:ext cx="1874520" cy="438912"/>
          </a:xfrm>
          <a:prstGeom prst="roundRect">
            <a:avLst>
              <a:gd name="adj" fmla="val 12500"/>
            </a:avLst>
          </a:prstGeom>
          <a:solidFill>
            <a:srgbClr val="E9F7F4"/>
          </a:solidFill>
          <a:ln w="12700">
            <a:solidFill>
              <a:srgbClr val="B7E2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0" y="1682496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9A8A"/>
                </a:solidFill>
              </a:rPr>
              <a:t>RECENT 3M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635240" y="1755648"/>
            <a:ext cx="914400" cy="0"/>
          </a:xfrm>
          <a:prstGeom prst="line">
            <a:avLst/>
          </a:prstGeom>
          <a:noFill/>
          <a:ln w="1778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8732520" y="16276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Engineered features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2743200"/>
            <a:ext cx="3429000" cy="1024128"/>
          </a:xfrm>
          <a:prstGeom prst="roundRect">
            <a:avLst>
              <a:gd name="adj" fmla="val 6250"/>
            </a:avLst>
          </a:prstGeom>
          <a:solidFill>
            <a:srgbClr val="EAF3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2889504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5A8A"/>
                </a:solidFill>
              </a:rPr>
              <a:t>Account exposure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96112" y="3127248"/>
            <a:ext cx="30175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0"/>
                </a:solidFill>
              </a:rPr>
              <a:t>active-account change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82230"/>
                </a:solidFill>
              </a:rPr>
              <a:t>changed / no-change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82230"/>
                </a:solidFill>
              </a:rPr>
              <a:t>active-account Z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07992" y="2743200"/>
            <a:ext cx="3429000" cy="1024128"/>
          </a:xfrm>
          <a:prstGeom prst="roundRect">
            <a:avLst>
              <a:gd name="adj" fmla="val 6250"/>
            </a:avLst>
          </a:prstGeom>
          <a:solidFill>
            <a:srgbClr val="E9F7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72584" y="2889504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9A8A"/>
                </a:solidFill>
              </a:rPr>
              <a:t>Balance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72584" y="3127248"/>
            <a:ext cx="30175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0"/>
                </a:solidFill>
              </a:rPr>
              <a:t>signed change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82230"/>
                </a:solidFill>
              </a:rPr>
              <a:t>log(1+|change|)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82230"/>
                </a:solidFill>
              </a:rPr>
              <a:t>availability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284464" y="2743200"/>
            <a:ext cx="3429000" cy="1024128"/>
          </a:xfrm>
          <a:prstGeom prst="roundRect">
            <a:avLst>
              <a:gd name="adj" fmla="val 6250"/>
            </a:avLst>
          </a:prstGeom>
          <a:solidFill>
            <a:srgbClr val="FFF5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49056" y="2889504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87922"/>
                </a:solidFill>
              </a:rPr>
              <a:t>Utilization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449056" y="3127248"/>
            <a:ext cx="30175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0"/>
                </a:solidFill>
              </a:rPr>
              <a:t>avg / weighted change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82230"/>
                </a:solidFill>
              </a:rPr>
              <a:t>selected Z challengers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82230"/>
                </a:solidFill>
              </a:rPr>
              <a:t>availability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31520" y="4160520"/>
            <a:ext cx="3429000" cy="1024128"/>
          </a:xfrm>
          <a:prstGeom prst="roundRect">
            <a:avLst>
              <a:gd name="adj" fmla="val 6250"/>
            </a:avLst>
          </a:prstGeom>
          <a:solidFill>
            <a:srgbClr val="F8ED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4306824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A3B35"/>
                </a:solidFill>
              </a:rPr>
              <a:t>Delinquency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96112" y="4544568"/>
            <a:ext cx="30175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0"/>
                </a:solidFill>
              </a:rPr>
              <a:t>past-due change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82230"/>
                </a:solidFill>
              </a:rPr>
              <a:t>delinquency share change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82230"/>
                </a:solidFill>
              </a:rPr>
              <a:t>availability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07992" y="4160520"/>
            <a:ext cx="3429000" cy="1024128"/>
          </a:xfrm>
          <a:prstGeom prst="roundRect">
            <a:avLst>
              <a:gd name="adj" fmla="val 6250"/>
            </a:avLst>
          </a:prstGeom>
          <a:solidFill>
            <a:srgbClr val="F0F3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72584" y="4306824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Transitions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672584" y="4544568"/>
            <a:ext cx="30175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0"/>
                </a:solidFill>
              </a:rPr>
              <a:t>deterioration acceleration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82230"/>
                </a:solidFill>
              </a:rPr>
              <a:t>adverse acceleration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82230"/>
                </a:solidFill>
              </a:rPr>
              <a:t>max DPD jump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284464" y="4160520"/>
            <a:ext cx="3429000" cy="1024128"/>
          </a:xfrm>
          <a:prstGeom prst="roundRect">
            <a:avLst>
              <a:gd name="adj" fmla="val 6250"/>
            </a:avLst>
          </a:prstGeom>
          <a:solidFill>
            <a:srgbClr val="F1F8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49056" y="4306824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9A8A"/>
                </a:solidFill>
              </a:rPr>
              <a:t>Availability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449056" y="4544568"/>
            <a:ext cx="30175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182230"/>
                </a:solidFill>
              </a:rPr>
              <a:t>balance available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82230"/>
                </a:solidFill>
              </a:rPr>
              <a:t>utilization available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82230"/>
                </a:solidFill>
              </a:rPr>
              <a:t>Z eligibility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02920" y="5971032"/>
            <a:ext cx="11064240" cy="384048"/>
          </a:xfrm>
          <a:prstGeom prst="roundRect">
            <a:avLst>
              <a:gd name="adj" fmla="val 19048"/>
            </a:avLst>
          </a:prstGeom>
          <a:solidFill>
            <a:srgbClr val="F5F7FA"/>
          </a:solidFill>
          <a:ln w="12700">
            <a:solidFill>
              <a:srgbClr val="EDF1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" y="6071616"/>
            <a:ext cx="10744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82230"/>
                </a:solidFill>
              </a:rPr>
              <a:t>The feature set captures both behavioral change and whether the customer has enough observable credit history to measure that change.</a:t>
            </a:r>
            <a:endParaRPr lang="en-US" sz="9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Separation Is Uneven Across Behavioral Families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The engineered features do not all separate the outcome in the same way.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0642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73952"/>
            <a:ext cx="11064240" cy="0"/>
          </a:xfrm>
          <a:prstGeom prst="line">
            <a:avLst/>
          </a:prstGeom>
          <a:noFill/>
          <a:ln w="9525">
            <a:solidFill>
              <a:srgbClr val="E6EB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65392"/>
            <a:ext cx="5943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280"/>
                </a:solidFill>
              </a:rPr>
              <a:t>Fraud Alert Vulnerability • Engineered Feature Validation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11064240" y="6565392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B7280"/>
                </a:solidFill>
              </a:rPr>
              <a:t>03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685800" y="12618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B1F3A"/>
                </a:solidFill>
              </a:rPr>
              <a:t>Feature family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3538728" y="126187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B1F3A"/>
                </a:solidFill>
              </a:rPr>
              <a:t>Separation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5065776" y="1261872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B1F3A"/>
                </a:solidFill>
              </a:rPr>
              <a:t>Shape observed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8330184" y="12618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B1F3A"/>
                </a:solidFill>
              </a:rPr>
              <a:t>Preliminary status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685800" y="1591056"/>
            <a:ext cx="9692640" cy="0"/>
          </a:xfrm>
          <a:prstGeom prst="line">
            <a:avLst/>
          </a:prstGeom>
          <a:noFill/>
          <a:ln w="8890">
            <a:solidFill>
              <a:srgbClr val="E7ED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6459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82230"/>
                </a:solidFill>
              </a:rPr>
              <a:t>Active account change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3538728" y="1609344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E9F7F4"/>
          </a:solidFill>
          <a:ln w="12700">
            <a:solidFill>
              <a:srgbClr val="E9F7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1659636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D9A8A"/>
                </a:solidFill>
              </a:rPr>
              <a:t>Clear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5065776" y="1645920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182230"/>
                </a:solidFill>
              </a:rPr>
              <a:t>change vs no-change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8330184" y="1609344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E9F7F4"/>
          </a:solidFill>
          <a:ln w="12700">
            <a:solidFill>
              <a:srgbClr val="E9F7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03336" y="1659636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D9A8A"/>
                </a:solidFill>
              </a:rPr>
              <a:t>KEEP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685800" y="2075688"/>
            <a:ext cx="9692640" cy="0"/>
          </a:xfrm>
          <a:prstGeom prst="line">
            <a:avLst/>
          </a:prstGeom>
          <a:noFill/>
          <a:ln w="8890">
            <a:solidFill>
              <a:srgbClr val="E7ED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1305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82230"/>
                </a:solidFill>
              </a:rPr>
              <a:t>Balance magnitude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3538728" y="2093976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E9F7F4"/>
          </a:solidFill>
          <a:ln w="12700">
            <a:solidFill>
              <a:srgbClr val="E9F7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1880" y="2144268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D9A8A"/>
                </a:solidFill>
              </a:rPr>
              <a:t>Clear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5065776" y="2130552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182230"/>
                </a:solidFill>
              </a:rPr>
              <a:t>increasing magnitude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8330184" y="2093976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E9F7F4"/>
          </a:solidFill>
          <a:ln w="12700">
            <a:solidFill>
              <a:srgbClr val="E9F7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03336" y="2144268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D9A8A"/>
                </a:solidFill>
              </a:rPr>
              <a:t>KEEP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685800" y="2560320"/>
            <a:ext cx="9692640" cy="0"/>
          </a:xfrm>
          <a:prstGeom prst="line">
            <a:avLst/>
          </a:prstGeom>
          <a:noFill/>
          <a:ln w="8890">
            <a:solidFill>
              <a:srgbClr val="E7ED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26151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82230"/>
                </a:solidFill>
              </a:rPr>
              <a:t>Balance / util availability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3538728" y="2578608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11880" y="2628900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E5A8A"/>
                </a:solidFill>
              </a:rPr>
              <a:t>Strong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5065776" y="2615184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182230"/>
                </a:solidFill>
              </a:rPr>
              <a:t>structural availability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8330184" y="2578608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E9F7F4"/>
          </a:solidFill>
          <a:ln w="12700">
            <a:solidFill>
              <a:srgbClr val="E9F7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03336" y="2628900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D9A8A"/>
                </a:solidFill>
              </a:rPr>
              <a:t>KEEP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685800" y="3044952"/>
            <a:ext cx="9692640" cy="0"/>
          </a:xfrm>
          <a:prstGeom prst="line">
            <a:avLst/>
          </a:prstGeom>
          <a:noFill/>
          <a:ln w="8890">
            <a:solidFill>
              <a:srgbClr val="E7ED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30998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82230"/>
                </a:solidFill>
              </a:rPr>
              <a:t>Utilization change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3538728" y="3063240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FEF2E3"/>
          </a:solidFill>
          <a:ln w="12700">
            <a:solidFill>
              <a:srgbClr val="FEF2E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11880" y="3113532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D87922"/>
                </a:solidFill>
              </a:rPr>
              <a:t>Moderate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5065776" y="3099816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182230"/>
                </a:solidFill>
              </a:rPr>
              <a:t>non-linear</a:t>
            </a:r>
            <a:endParaRPr lang="en-US" sz="840" dirty="0"/>
          </a:p>
        </p:txBody>
      </p:sp>
      <p:sp>
        <p:nvSpPr>
          <p:cNvPr id="38" name="Shape 36"/>
          <p:cNvSpPr/>
          <p:nvPr/>
        </p:nvSpPr>
        <p:spPr>
          <a:xfrm>
            <a:off x="8330184" y="3063240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E9F7F4"/>
          </a:solidFill>
          <a:ln w="12700">
            <a:solidFill>
              <a:srgbClr val="E9F7F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03336" y="3113532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D9A8A"/>
                </a:solidFill>
              </a:rPr>
              <a:t>KEEP</a:t>
            </a:r>
            <a:endParaRPr lang="en-US" sz="720" dirty="0"/>
          </a:p>
        </p:txBody>
      </p:sp>
      <p:sp>
        <p:nvSpPr>
          <p:cNvPr id="40" name="Shape 38"/>
          <p:cNvSpPr/>
          <p:nvPr/>
        </p:nvSpPr>
        <p:spPr>
          <a:xfrm>
            <a:off x="685800" y="3529584"/>
            <a:ext cx="9692640" cy="0"/>
          </a:xfrm>
          <a:prstGeom prst="line">
            <a:avLst/>
          </a:prstGeom>
          <a:noFill/>
          <a:ln w="8890">
            <a:solidFill>
              <a:srgbClr val="E7EDF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358444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82230"/>
                </a:solidFill>
              </a:rPr>
              <a:t>Utilization Z</a:t>
            </a:r>
            <a:endParaRPr lang="en-US" sz="860" dirty="0"/>
          </a:p>
        </p:txBody>
      </p:sp>
      <p:sp>
        <p:nvSpPr>
          <p:cNvPr id="42" name="Shape 40"/>
          <p:cNvSpPr/>
          <p:nvPr/>
        </p:nvSpPr>
        <p:spPr>
          <a:xfrm>
            <a:off x="3538728" y="3547872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FEF2E3"/>
          </a:solidFill>
          <a:ln w="12700">
            <a:solidFill>
              <a:srgbClr val="FEF2E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11880" y="3598164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D87922"/>
                </a:solidFill>
              </a:rPr>
              <a:t>Moderate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5065776" y="3584448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182230"/>
                </a:solidFill>
              </a:rPr>
              <a:t>non-linear challenger</a:t>
            </a:r>
            <a:endParaRPr lang="en-US" sz="840" dirty="0"/>
          </a:p>
        </p:txBody>
      </p:sp>
      <p:sp>
        <p:nvSpPr>
          <p:cNvPr id="45" name="Shape 43"/>
          <p:cNvSpPr/>
          <p:nvPr/>
        </p:nvSpPr>
        <p:spPr>
          <a:xfrm>
            <a:off x="8330184" y="3547872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03336" y="3598164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E5A8A"/>
                </a:solidFill>
              </a:rPr>
              <a:t>CHALLENGER</a:t>
            </a:r>
            <a:endParaRPr lang="en-US" sz="720" dirty="0"/>
          </a:p>
        </p:txBody>
      </p:sp>
      <p:sp>
        <p:nvSpPr>
          <p:cNvPr id="47" name="Shape 45"/>
          <p:cNvSpPr/>
          <p:nvPr/>
        </p:nvSpPr>
        <p:spPr>
          <a:xfrm>
            <a:off x="685800" y="4014216"/>
            <a:ext cx="9692640" cy="0"/>
          </a:xfrm>
          <a:prstGeom prst="line">
            <a:avLst/>
          </a:prstGeom>
          <a:noFill/>
          <a:ln w="8890">
            <a:solidFill>
              <a:srgbClr val="E7EDF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5800" y="40690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82230"/>
                </a:solidFill>
              </a:rPr>
              <a:t>Past due / delinquency value</a:t>
            </a:r>
            <a:endParaRPr lang="en-US" sz="860" dirty="0"/>
          </a:p>
        </p:txBody>
      </p:sp>
      <p:sp>
        <p:nvSpPr>
          <p:cNvPr id="49" name="Shape 47"/>
          <p:cNvSpPr/>
          <p:nvPr/>
        </p:nvSpPr>
        <p:spPr>
          <a:xfrm>
            <a:off x="3538728" y="4032504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11880" y="4082796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B7280"/>
                </a:solidFill>
              </a:rPr>
              <a:t>Weak</a:t>
            </a:r>
            <a:endParaRPr lang="en-US" sz="720" dirty="0"/>
          </a:p>
        </p:txBody>
      </p:sp>
      <p:sp>
        <p:nvSpPr>
          <p:cNvPr id="51" name="Text 49"/>
          <p:cNvSpPr/>
          <p:nvPr/>
        </p:nvSpPr>
        <p:spPr>
          <a:xfrm>
            <a:off x="5065776" y="4069080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182230"/>
                </a:solidFill>
              </a:rPr>
              <a:t>zero / missing dominate</a:t>
            </a:r>
            <a:endParaRPr lang="en-US" sz="840" dirty="0"/>
          </a:p>
        </p:txBody>
      </p:sp>
      <p:sp>
        <p:nvSpPr>
          <p:cNvPr id="52" name="Shape 50"/>
          <p:cNvSpPr/>
          <p:nvPr/>
        </p:nvSpPr>
        <p:spPr>
          <a:xfrm>
            <a:off x="8330184" y="4032504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403336" y="4082796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B7280"/>
                </a:solidFill>
              </a:rPr>
              <a:t>LOW PRIORITY</a:t>
            </a:r>
            <a:endParaRPr lang="en-US" sz="720" dirty="0"/>
          </a:p>
        </p:txBody>
      </p:sp>
      <p:sp>
        <p:nvSpPr>
          <p:cNvPr id="54" name="Shape 52"/>
          <p:cNvSpPr/>
          <p:nvPr/>
        </p:nvSpPr>
        <p:spPr>
          <a:xfrm>
            <a:off x="685800" y="4498848"/>
            <a:ext cx="9692640" cy="0"/>
          </a:xfrm>
          <a:prstGeom prst="line">
            <a:avLst/>
          </a:prstGeom>
          <a:noFill/>
          <a:ln w="8890">
            <a:solidFill>
              <a:srgbClr val="E7EDF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5800" y="45537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182230"/>
                </a:solidFill>
              </a:rPr>
              <a:t>Deterioration / adverse / DPD</a:t>
            </a:r>
            <a:endParaRPr lang="en-US" sz="860" dirty="0"/>
          </a:p>
        </p:txBody>
      </p:sp>
      <p:sp>
        <p:nvSpPr>
          <p:cNvPr id="56" name="Shape 54"/>
          <p:cNvSpPr/>
          <p:nvPr/>
        </p:nvSpPr>
        <p:spPr>
          <a:xfrm>
            <a:off x="3538728" y="4517136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11880" y="4567428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B7280"/>
                </a:solidFill>
              </a:rPr>
              <a:t>Weak</a:t>
            </a:r>
            <a:endParaRPr lang="en-US" sz="720" dirty="0"/>
          </a:p>
        </p:txBody>
      </p:sp>
      <p:sp>
        <p:nvSpPr>
          <p:cNvPr id="58" name="Text 56"/>
          <p:cNvSpPr/>
          <p:nvPr/>
        </p:nvSpPr>
        <p:spPr>
          <a:xfrm>
            <a:off x="5065776" y="4553712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182230"/>
                </a:solidFill>
              </a:rPr>
              <a:t>sparse / flat</a:t>
            </a:r>
            <a:endParaRPr lang="en-US" sz="840" dirty="0"/>
          </a:p>
        </p:txBody>
      </p:sp>
      <p:sp>
        <p:nvSpPr>
          <p:cNvPr id="59" name="Shape 57"/>
          <p:cNvSpPr/>
          <p:nvPr/>
        </p:nvSpPr>
        <p:spPr>
          <a:xfrm>
            <a:off x="8330184" y="4517136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403336" y="4567428"/>
            <a:ext cx="12710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B7280"/>
                </a:solidFill>
              </a:rPr>
              <a:t>LOW PRIORITY</a:t>
            </a:r>
            <a:endParaRPr lang="en-US" sz="720" dirty="0"/>
          </a:p>
        </p:txBody>
      </p:sp>
      <p:sp>
        <p:nvSpPr>
          <p:cNvPr id="61" name="Text 59"/>
          <p:cNvSpPr/>
          <p:nvPr/>
        </p:nvSpPr>
        <p:spPr>
          <a:xfrm>
            <a:off x="731520" y="52303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F3A"/>
                </a:solidFill>
              </a:rPr>
              <a:t>Key finding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645920" y="5212080"/>
            <a:ext cx="91440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182230"/>
                </a:solidFill>
              </a:rPr>
              <a:t>The strongest marginal evidence comes from account-structure change, balance movement magnitude and data availability—not from traditional credit deterioration signals.</a:t>
            </a:r>
            <a:endParaRPr lang="en-US" sz="1060" dirty="0"/>
          </a:p>
        </p:txBody>
      </p:sp>
      <p:sp>
        <p:nvSpPr>
          <p:cNvPr id="63" name="Shape 61"/>
          <p:cNvSpPr/>
          <p:nvPr/>
        </p:nvSpPr>
        <p:spPr>
          <a:xfrm>
            <a:off x="502920" y="5971032"/>
            <a:ext cx="11064240" cy="384048"/>
          </a:xfrm>
          <a:prstGeom prst="roundRect">
            <a:avLst>
              <a:gd name="adj" fmla="val 19048"/>
            </a:avLst>
          </a:prstGeom>
          <a:solidFill>
            <a:srgbClr val="F5F7FA"/>
          </a:solidFill>
          <a:ln w="12700">
            <a:solidFill>
              <a:srgbClr val="EDF1F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8368" y="6071616"/>
            <a:ext cx="10744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82230"/>
                </a:solidFill>
              </a:rPr>
              <a:t>The report therefore evaluates value signal and availability signal separately before moving to model development.</a:t>
            </a:r>
            <a:endParaRPr lang="en-US" sz="9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Availability Is a Major Component of Feature Separation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Availability of engineered feature values is strongly associated with the target label.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0642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73952"/>
            <a:ext cx="11064240" cy="0"/>
          </a:xfrm>
          <a:prstGeom prst="line">
            <a:avLst/>
          </a:prstGeom>
          <a:noFill/>
          <a:ln w="9525">
            <a:solidFill>
              <a:srgbClr val="E6EB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65392"/>
            <a:ext cx="5943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280"/>
                </a:solidFill>
              </a:rPr>
              <a:t>Fraud Alert Vulnerability • Engineered Feature Validation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11064240" y="6565392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B7280"/>
                </a:solidFill>
              </a:rPr>
              <a:t>04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685800" y="1161288"/>
            <a:ext cx="7360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Positive rate by feature availability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1417320"/>
            <a:ext cx="7360920" cy="4434840"/>
          </a:xfrm>
          <a:prstGeom prst="roundRect">
            <a:avLst>
              <a:gd name="adj" fmla="val 1031"/>
            </a:avLst>
          </a:prstGeom>
          <a:solidFill>
            <a:srgbClr val="FFFFFF">
              <a:alpha val="0"/>
            </a:srgbClr>
          </a:solidFill>
          <a:ln w="10160">
            <a:solidFill>
              <a:srgbClr val="E5EAF0"/>
            </a:solidFill>
            <a:prstDash val="solid"/>
          </a:ln>
        </p:spPr>
      </p:sp>
      <p:graphicFrame>
        <p:nvGraphicFramePr>
          <p:cNvPr id="10" name="Chart 0" descr=""/>
          <p:cNvGraphicFramePr/>
          <p:nvPr/>
        </p:nvGraphicFramePr>
        <p:xfrm>
          <a:off x="868680" y="1664208"/>
          <a:ext cx="6995160" cy="39136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8366760" y="1417320"/>
            <a:ext cx="2971800" cy="1005840"/>
          </a:xfrm>
          <a:prstGeom prst="roundRect">
            <a:avLst>
              <a:gd name="adj" fmla="val 7273"/>
            </a:avLst>
          </a:prstGeom>
          <a:solidFill>
            <a:srgbClr val="FEF2E3"/>
          </a:solidFill>
          <a:ln w="12700">
            <a:solidFill>
              <a:srgbClr val="F6D5A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77072" y="1600200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D87922"/>
                </a:solidFill>
              </a:rPr>
              <a:t>Analytical baseline</a:t>
            </a:r>
            <a:endParaRPr lang="en-US" sz="920" dirty="0"/>
          </a:p>
        </p:txBody>
      </p:sp>
      <p:sp>
        <p:nvSpPr>
          <p:cNvPr id="13" name="Text 10"/>
          <p:cNvSpPr/>
          <p:nvPr/>
        </p:nvSpPr>
        <p:spPr>
          <a:xfrm>
            <a:off x="8778240" y="187452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87922"/>
                </a:solidFill>
              </a:rPr>
              <a:t>9.09%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8412480" y="2670048"/>
            <a:ext cx="28346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The baseline reflects sample composition, not population prevalence.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412480" y="3493008"/>
            <a:ext cx="27432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Availability flags should be treated as information, not just missing-value mechanics.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02920" y="5971032"/>
            <a:ext cx="11064240" cy="384048"/>
          </a:xfrm>
          <a:prstGeom prst="roundRect">
            <a:avLst>
              <a:gd name="adj" fmla="val 19048"/>
            </a:avLst>
          </a:prstGeom>
          <a:solidFill>
            <a:srgbClr val="F5F7FA"/>
          </a:solidFill>
          <a:ln w="12700">
            <a:solidFill>
              <a:srgbClr val="EDF1F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6071616"/>
            <a:ext cx="10744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82230"/>
                </a:solidFill>
              </a:rPr>
              <a:t>Missingness is not random: available feature values consistently have much higher positive concentration than not-available values.</a:t>
            </a:r>
            <a:endParaRPr lang="en-US" sz="9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Active-Account Change Is More Informative Than Its Direction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The presence of change separates the groups more clearly than the sign of change.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0642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73952"/>
            <a:ext cx="11064240" cy="0"/>
          </a:xfrm>
          <a:prstGeom prst="line">
            <a:avLst/>
          </a:prstGeom>
          <a:noFill/>
          <a:ln w="9525">
            <a:solidFill>
              <a:srgbClr val="E6EB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65392"/>
            <a:ext cx="5943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280"/>
                </a:solidFill>
              </a:rPr>
              <a:t>Fraud Alert Vulnerability • Engineered Feature Validation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11064240" y="6565392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B7280"/>
                </a:solidFill>
              </a:rPr>
              <a:t>05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685800" y="1161288"/>
            <a:ext cx="5166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Signed active-account change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1417320"/>
            <a:ext cx="5166360" cy="4160520"/>
          </a:xfrm>
          <a:prstGeom prst="roundRect">
            <a:avLst>
              <a:gd name="adj" fmla="val 1099"/>
            </a:avLst>
          </a:prstGeom>
          <a:solidFill>
            <a:srgbClr val="FFFFFF">
              <a:alpha val="0"/>
            </a:srgbClr>
          </a:solidFill>
          <a:ln w="10160">
            <a:solidFill>
              <a:srgbClr val="E5EAF0"/>
            </a:solidFill>
            <a:prstDash val="solid"/>
          </a:ln>
        </p:spPr>
      </p:sp>
      <p:graphicFrame>
        <p:nvGraphicFramePr>
          <p:cNvPr id="10" name="Chart 0" descr=""/>
          <p:cNvGraphicFramePr/>
          <p:nvPr/>
        </p:nvGraphicFramePr>
        <p:xfrm>
          <a:off x="914400" y="1719072"/>
          <a:ext cx="4709160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6263640" y="116128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Collapsed signal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263640" y="1417320"/>
            <a:ext cx="4297680" cy="4160520"/>
          </a:xfrm>
          <a:prstGeom prst="roundRect">
            <a:avLst>
              <a:gd name="adj" fmla="val 1099"/>
            </a:avLst>
          </a:prstGeom>
          <a:solidFill>
            <a:srgbClr val="FFFFFF">
              <a:alpha val="0"/>
            </a:srgbClr>
          </a:solidFill>
          <a:ln w="10160">
            <a:solidFill>
              <a:srgbClr val="E5EAF0"/>
            </a:solidFill>
            <a:prstDash val="solid"/>
          </a:ln>
        </p:spPr>
      </p:sp>
      <p:graphicFrame>
        <p:nvGraphicFramePr>
          <p:cNvPr id="13" name="Chart 1" descr=""/>
          <p:cNvGraphicFramePr/>
          <p:nvPr/>
        </p:nvGraphicFramePr>
        <p:xfrm>
          <a:off x="6537960" y="1719072"/>
          <a:ext cx="3749040" cy="3584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10"/>
          <p:cNvSpPr/>
          <p:nvPr/>
        </p:nvSpPr>
        <p:spPr>
          <a:xfrm>
            <a:off x="10744200" y="21488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D9A8A"/>
                </a:solidFill>
              </a:rPr>
              <a:t>≈2.5×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10652760" y="25146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6B7280"/>
                </a:solidFill>
              </a:rPr>
              <a:t>positive-rate difference</a:t>
            </a:r>
            <a:endParaRPr lang="en-US" sz="860" dirty="0"/>
          </a:p>
          <a:p>
            <a:pPr algn="ctr" indent="0" marL="0">
              <a:buNone/>
            </a:pPr>
            <a:r>
              <a:rPr lang="en-US" sz="860" dirty="0">
                <a:solidFill>
                  <a:srgbClr val="6B7280"/>
                </a:solidFill>
              </a:rPr>
              <a:t>Changed vs no-change</a:t>
            </a:r>
            <a:endParaRPr lang="en-US" sz="860" dirty="0"/>
          </a:p>
        </p:txBody>
      </p:sp>
      <p:sp>
        <p:nvSpPr>
          <p:cNvPr id="16" name="Shape 12"/>
          <p:cNvSpPr/>
          <p:nvPr/>
        </p:nvSpPr>
        <p:spPr>
          <a:xfrm>
            <a:off x="502920" y="5971032"/>
            <a:ext cx="11064240" cy="384048"/>
          </a:xfrm>
          <a:prstGeom prst="roundRect">
            <a:avLst>
              <a:gd name="adj" fmla="val 19048"/>
            </a:avLst>
          </a:prstGeom>
          <a:solidFill>
            <a:srgbClr val="F5F7FA"/>
          </a:solidFill>
          <a:ln w="12700">
            <a:solidFill>
              <a:srgbClr val="EDF1F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58368" y="6071616"/>
            <a:ext cx="10744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82230"/>
                </a:solidFill>
              </a:rPr>
              <a:t>The binary “changed / no-change” transformation is strongly supported by the observed feature shape.</a:t>
            </a:r>
            <a:endParaRPr lang="en-US" sz="9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Balance Magnitude Captures a Non-Linear Signal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Signed balance change and balance-change magnitude capture different relationships.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0642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73952"/>
            <a:ext cx="11064240" cy="0"/>
          </a:xfrm>
          <a:prstGeom prst="line">
            <a:avLst/>
          </a:prstGeom>
          <a:noFill/>
          <a:ln w="9525">
            <a:solidFill>
              <a:srgbClr val="E6EB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65392"/>
            <a:ext cx="5943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280"/>
                </a:solidFill>
              </a:rPr>
              <a:t>Fraud Alert Vulnerability • Engineered Feature Validation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11064240" y="6565392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B7280"/>
                </a:solidFill>
              </a:rPr>
              <a:t>06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685800" y="1161288"/>
            <a:ext cx="7635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Positive rate by feature decile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1417320"/>
            <a:ext cx="7635240" cy="4480560"/>
          </a:xfrm>
          <a:prstGeom prst="roundRect">
            <a:avLst>
              <a:gd name="adj" fmla="val 1020"/>
            </a:avLst>
          </a:prstGeom>
          <a:solidFill>
            <a:srgbClr val="FFFFFF">
              <a:alpha val="0"/>
            </a:srgbClr>
          </a:solidFill>
          <a:ln w="10160">
            <a:solidFill>
              <a:srgbClr val="E5EAF0"/>
            </a:solidFill>
            <a:prstDash val="solid"/>
          </a:ln>
        </p:spPr>
      </p:sp>
      <p:graphicFrame>
        <p:nvGraphicFramePr>
          <p:cNvPr id="10" name="Chart 0" descr=""/>
          <p:cNvGraphicFramePr/>
          <p:nvPr/>
        </p:nvGraphicFramePr>
        <p:xfrm>
          <a:off x="896112" y="1682496"/>
          <a:ext cx="717804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8549640" y="1572768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E9F7F4"/>
          </a:solidFill>
          <a:ln w="12700">
            <a:solidFill>
              <a:srgbClr val="CFED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32520" y="1719072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9A8A"/>
                </a:solidFill>
              </a:rPr>
              <a:t>Correlation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8778240" y="195681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9A8A"/>
                </a:solidFill>
              </a:rPr>
              <a:t>r = 0.054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8595360" y="2834640"/>
            <a:ext cx="274320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Signed change is U-shaped.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</a:rPr>
              <a:t>Magnitude is cleaner and more monotonic.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595360" y="3794760"/>
            <a:ext cx="27432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230"/>
                </a:solidFill>
              </a:rPr>
              <a:t>Implication: signed and magnitude-based balance features should not be treated as duplicates.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02920" y="5971032"/>
            <a:ext cx="11064240" cy="384048"/>
          </a:xfrm>
          <a:prstGeom prst="roundRect">
            <a:avLst>
              <a:gd name="adj" fmla="val 19048"/>
            </a:avLst>
          </a:prstGeom>
          <a:solidFill>
            <a:srgbClr val="F5F7FA"/>
          </a:solidFill>
          <a:ln w="12700">
            <a:solidFill>
              <a:srgbClr val="EDF1F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6071616"/>
            <a:ext cx="10744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82230"/>
                </a:solidFill>
              </a:rPr>
              <a:t>The log(1+|ΔBalance|) transformation is supported by a clearer increasing relationship than the signed balance change alone.</a:t>
            </a:r>
            <a:endParaRPr lang="en-US" sz="9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Utilization Contains Signal, but the Relationship Is Non-Linear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Current and Z-score representations overlap, but neither creates a simple linear gradient.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0642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73952"/>
            <a:ext cx="11064240" cy="0"/>
          </a:xfrm>
          <a:prstGeom prst="line">
            <a:avLst/>
          </a:prstGeom>
          <a:noFill/>
          <a:ln w="9525">
            <a:solidFill>
              <a:srgbClr val="E6EB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65392"/>
            <a:ext cx="5943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280"/>
                </a:solidFill>
              </a:rPr>
              <a:t>Fraud Alert Vulnerability • Engineered Feature Validation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11064240" y="6565392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B7280"/>
                </a:solidFill>
              </a:rPr>
              <a:t>07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685800" y="1161288"/>
            <a:ext cx="7543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Utilization feature shape by decile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1417320"/>
            <a:ext cx="7543800" cy="4480560"/>
          </a:xfrm>
          <a:prstGeom prst="roundRect">
            <a:avLst>
              <a:gd name="adj" fmla="val 1020"/>
            </a:avLst>
          </a:prstGeom>
          <a:solidFill>
            <a:srgbClr val="FFFFFF">
              <a:alpha val="0"/>
            </a:srgbClr>
          </a:solidFill>
          <a:ln w="10160">
            <a:solidFill>
              <a:srgbClr val="E5EAF0"/>
            </a:solidFill>
            <a:prstDash val="solid"/>
          </a:ln>
        </p:spPr>
      </p:sp>
      <p:graphicFrame>
        <p:nvGraphicFramePr>
          <p:cNvPr id="10" name="Chart 0" descr=""/>
          <p:cNvGraphicFramePr/>
          <p:nvPr/>
        </p:nvGraphicFramePr>
        <p:xfrm>
          <a:off x="896112" y="1682496"/>
          <a:ext cx="708660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8522208" y="1508760"/>
            <a:ext cx="2788920" cy="1078992"/>
          </a:xfrm>
          <a:prstGeom prst="roundRect">
            <a:avLst>
              <a:gd name="adj" fmla="val 6780"/>
            </a:avLst>
          </a:prstGeom>
          <a:solidFill>
            <a:srgbClr val="FEF2E3"/>
          </a:solidFill>
          <a:ln w="12700">
            <a:solidFill>
              <a:srgbClr val="F7D7A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41664" y="1700784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87922"/>
                </a:solidFill>
              </a:rPr>
              <a:t>Current vs Z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796528" y="19568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87922"/>
                </a:solidFill>
              </a:rPr>
              <a:t>r ≈ 0.63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8641080" y="29260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Moderate overlap — not equivalent.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641080" y="3383280"/>
            <a:ext cx="269748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82230"/>
                </a:solidFill>
              </a:rPr>
              <a:t>Interpretation should focus on non-linear shape and incremental value in the model, not a simple “higher is worse” story.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02920" y="5971032"/>
            <a:ext cx="11064240" cy="384048"/>
          </a:xfrm>
          <a:prstGeom prst="roundRect">
            <a:avLst>
              <a:gd name="adj" fmla="val 19048"/>
            </a:avLst>
          </a:prstGeom>
          <a:solidFill>
            <a:srgbClr val="F5F7FA"/>
          </a:solidFill>
          <a:ln w="12700">
            <a:solidFill>
              <a:srgbClr val="EDF1F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6071616"/>
            <a:ext cx="10744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82230"/>
                </a:solidFill>
              </a:rPr>
              <a:t>Utilization Z remains a legitimate challenger, but the Current formulation is not replaced by univariate Z-score evidence.</a:t>
            </a:r>
            <a:endParaRPr lang="en-US" sz="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Traditional Credit-Deterioration Signals Are Weak Marginal Separators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Sparse delinquency and DPD signals do not behave like strong default-style predictors for this outcome.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0642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73952"/>
            <a:ext cx="11064240" cy="0"/>
          </a:xfrm>
          <a:prstGeom prst="line">
            <a:avLst/>
          </a:prstGeom>
          <a:noFill/>
          <a:ln w="9525">
            <a:solidFill>
              <a:srgbClr val="E6EB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65392"/>
            <a:ext cx="5943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280"/>
                </a:solidFill>
              </a:rPr>
              <a:t>Fraud Alert Vulnerability • Engineered Feature Validation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11064240" y="6565392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B7280"/>
                </a:solidFill>
              </a:rPr>
              <a:t>08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685800" y="1161288"/>
            <a:ext cx="5349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Transition and DPD signals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1417320"/>
            <a:ext cx="5349240" cy="4389120"/>
          </a:xfrm>
          <a:prstGeom prst="roundRect">
            <a:avLst>
              <a:gd name="adj" fmla="val 1042"/>
            </a:avLst>
          </a:prstGeom>
          <a:solidFill>
            <a:srgbClr val="FFFFFF">
              <a:alpha val="0"/>
            </a:srgbClr>
          </a:solidFill>
          <a:ln w="10160">
            <a:solidFill>
              <a:srgbClr val="E5EAF0"/>
            </a:solidFill>
            <a:prstDash val="solid"/>
          </a:ln>
        </p:spPr>
      </p:sp>
      <p:graphicFrame>
        <p:nvGraphicFramePr>
          <p:cNvPr id="10" name="Chart 0" descr=""/>
          <p:cNvGraphicFramePr/>
          <p:nvPr/>
        </p:nvGraphicFramePr>
        <p:xfrm>
          <a:off x="914400" y="1719072"/>
          <a:ext cx="489204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6446520" y="1161288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Past due / delinquency groups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446520" y="1417320"/>
            <a:ext cx="4709160" cy="4389120"/>
          </a:xfrm>
          <a:prstGeom prst="roundRect">
            <a:avLst>
              <a:gd name="adj" fmla="val 1042"/>
            </a:avLst>
          </a:prstGeom>
          <a:solidFill>
            <a:srgbClr val="FFFFFF">
              <a:alpha val="0"/>
            </a:srgbClr>
          </a:solidFill>
          <a:ln w="10160">
            <a:solidFill>
              <a:srgbClr val="E5EAF0"/>
            </a:solidFill>
            <a:prstDash val="solid"/>
          </a:ln>
        </p:spPr>
      </p:sp>
      <p:graphicFrame>
        <p:nvGraphicFramePr>
          <p:cNvPr id="13" name="Chart 1" descr=""/>
          <p:cNvGraphicFramePr/>
          <p:nvPr/>
        </p:nvGraphicFramePr>
        <p:xfrm>
          <a:off x="6656832" y="1719072"/>
          <a:ext cx="4315968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Shape 10"/>
          <p:cNvSpPr/>
          <p:nvPr/>
        </p:nvSpPr>
        <p:spPr>
          <a:xfrm>
            <a:off x="502920" y="5971032"/>
            <a:ext cx="11064240" cy="384048"/>
          </a:xfrm>
          <a:prstGeom prst="roundRect">
            <a:avLst>
              <a:gd name="adj" fmla="val 19048"/>
            </a:avLst>
          </a:prstGeom>
          <a:solidFill>
            <a:srgbClr val="F5F7FA"/>
          </a:solidFill>
          <a:ln w="12700">
            <a:solidFill>
              <a:srgbClr val="EDF1F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58368" y="6071616"/>
            <a:ext cx="10744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82230"/>
                </a:solidFill>
              </a:rPr>
              <a:t>The target is future qualifying alert placement, not default; traditional deterioration signals show weak marginal separation.</a:t>
            </a:r>
            <a:endParaRPr lang="en-US" sz="9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Multiple Signals Converge Into Stronger Positive Concentration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Positive concentration increases consistently as more engineered signal conditions occur together.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0642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73952"/>
            <a:ext cx="11064240" cy="0"/>
          </a:xfrm>
          <a:prstGeom prst="line">
            <a:avLst/>
          </a:prstGeom>
          <a:noFill/>
          <a:ln w="9525">
            <a:solidFill>
              <a:srgbClr val="E6EB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65392"/>
            <a:ext cx="5943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280"/>
                </a:solidFill>
              </a:rPr>
              <a:t>Fraud Alert Vulnerability • Engineered Feature Validation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11064240" y="6565392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B7280"/>
                </a:solidFill>
              </a:rPr>
              <a:t>09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685800" y="1161288"/>
            <a:ext cx="6172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Signal count → positive rate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1417320"/>
            <a:ext cx="6172200" cy="4389120"/>
          </a:xfrm>
          <a:prstGeom prst="roundRect">
            <a:avLst>
              <a:gd name="adj" fmla="val 1042"/>
            </a:avLst>
          </a:prstGeom>
          <a:solidFill>
            <a:srgbClr val="FFFFFF">
              <a:alpha val="0"/>
            </a:srgbClr>
          </a:solidFill>
          <a:ln w="10160">
            <a:solidFill>
              <a:srgbClr val="E5EAF0"/>
            </a:solidFill>
            <a:prstDash val="solid"/>
          </a:ln>
        </p:spPr>
      </p:sp>
      <p:graphicFrame>
        <p:nvGraphicFramePr>
          <p:cNvPr id="10" name="Chart 0" descr=""/>
          <p:cNvGraphicFramePr/>
          <p:nvPr/>
        </p:nvGraphicFramePr>
        <p:xfrm>
          <a:off x="914400" y="1691640"/>
          <a:ext cx="57607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7315200" y="1161288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Distribution by label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7315200" y="1417320"/>
            <a:ext cx="3886200" cy="4389120"/>
          </a:xfrm>
          <a:prstGeom prst="roundRect">
            <a:avLst>
              <a:gd name="adj" fmla="val 1176"/>
            </a:avLst>
          </a:prstGeom>
          <a:solidFill>
            <a:srgbClr val="FFFFFF">
              <a:alpha val="0"/>
            </a:srgbClr>
          </a:solidFill>
          <a:ln w="10160">
            <a:solidFill>
              <a:srgbClr val="E5EAF0"/>
            </a:solidFill>
            <a:prstDash val="solid"/>
          </a:ln>
        </p:spPr>
      </p:sp>
      <p:graphicFrame>
        <p:nvGraphicFramePr>
          <p:cNvPr id="13" name="Chart 1" descr=""/>
          <p:cNvGraphicFramePr/>
          <p:nvPr/>
        </p:nvGraphicFramePr>
        <p:xfrm>
          <a:off x="7543800" y="1691640"/>
          <a:ext cx="34290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Shape 10"/>
          <p:cNvSpPr/>
          <p:nvPr/>
        </p:nvSpPr>
        <p:spPr>
          <a:xfrm>
            <a:off x="502920" y="5971032"/>
            <a:ext cx="11064240" cy="384048"/>
          </a:xfrm>
          <a:prstGeom prst="roundRect">
            <a:avLst>
              <a:gd name="adj" fmla="val 19048"/>
            </a:avLst>
          </a:prstGeom>
          <a:solidFill>
            <a:srgbClr val="F5F7FA"/>
          </a:solidFill>
          <a:ln w="12700">
            <a:solidFill>
              <a:srgbClr val="EDF1F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58368" y="6071616"/>
            <a:ext cx="10744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82230"/>
                </a:solidFill>
              </a:rPr>
              <a:t>0 signals = 1.05% vs 5 signals = 13.61% (~13×); this is a convergence index, not a calibrated risk score.</a:t>
            </a:r>
            <a:endParaRPr lang="en-US" sz="9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Several Feature Representations Are Highly Redundant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Correlation analysis highlights where features are likely to duplicate information.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0642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73952"/>
            <a:ext cx="11064240" cy="0"/>
          </a:xfrm>
          <a:prstGeom prst="line">
            <a:avLst/>
          </a:prstGeom>
          <a:noFill/>
          <a:ln w="9525">
            <a:solidFill>
              <a:srgbClr val="E6EB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65392"/>
            <a:ext cx="5943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280"/>
                </a:solidFill>
              </a:rPr>
              <a:t>Fraud Alert Vulnerability • Engineered Feature Validation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11064240" y="6565392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B7280"/>
                </a:solidFill>
              </a:rPr>
              <a:t>10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685800" y="1161288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</a:rPr>
              <a:t>Feature-pair correlations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1417320"/>
            <a:ext cx="6583680" cy="4343400"/>
          </a:xfrm>
          <a:prstGeom prst="roundRect">
            <a:avLst>
              <a:gd name="adj" fmla="val 1053"/>
            </a:avLst>
          </a:prstGeom>
          <a:solidFill>
            <a:srgbClr val="FFFFFF">
              <a:alpha val="0"/>
            </a:srgbClr>
          </a:solidFill>
          <a:ln w="10160">
            <a:solidFill>
              <a:srgbClr val="E5EAF0"/>
            </a:solidFill>
            <a:prstDash val="solid"/>
          </a:ln>
        </p:spPr>
      </p:sp>
      <p:graphicFrame>
        <p:nvGraphicFramePr>
          <p:cNvPr id="10" name="Chart 0" descr=""/>
          <p:cNvGraphicFramePr/>
          <p:nvPr/>
        </p:nvGraphicFramePr>
        <p:xfrm>
          <a:off x="960120" y="1691640"/>
          <a:ext cx="608076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7635240" y="1481328"/>
            <a:ext cx="3474720" cy="987552"/>
          </a:xfrm>
          <a:prstGeom prst="roundRect">
            <a:avLst>
              <a:gd name="adj" fmla="val 7407"/>
            </a:avLst>
          </a:prstGeom>
          <a:solidFill>
            <a:srgbClr val="EAF3FA"/>
          </a:solidFill>
          <a:ln w="12700">
            <a:solidFill>
              <a:srgbClr val="C8DC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18120" y="169164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5A8A"/>
                </a:solidFill>
              </a:rPr>
              <a:t>High redundancy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863840" y="19842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82230"/>
                </a:solidFill>
              </a:rPr>
              <a:t>Avg vs weighted utilization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7635240" y="2788920"/>
            <a:ext cx="3474720" cy="987552"/>
          </a:xfrm>
          <a:prstGeom prst="roundRect">
            <a:avLst>
              <a:gd name="adj" fmla="val 7407"/>
            </a:avLst>
          </a:prstGeom>
          <a:solidFill>
            <a:srgbClr val="E9F7F4"/>
          </a:solidFill>
          <a:ln w="12700">
            <a:solidFill>
              <a:srgbClr val="C8ED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18120" y="299923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9A8A"/>
                </a:solidFill>
              </a:rPr>
              <a:t>Complementary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863840" y="329184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82230"/>
                </a:solidFill>
              </a:rPr>
              <a:t>Signed vs magnitude balance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7726680" y="42976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F3A"/>
                </a:solidFill>
              </a:rPr>
              <a:t>Implication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726680" y="4617720"/>
            <a:ext cx="324612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82230"/>
                </a:solidFill>
              </a:rPr>
              <a:t>Some challenger features should remain available for model comparison, but not all should be interpreted as independent signals.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02920" y="5971032"/>
            <a:ext cx="11064240" cy="384048"/>
          </a:xfrm>
          <a:prstGeom prst="roundRect">
            <a:avLst>
              <a:gd name="adj" fmla="val 19048"/>
            </a:avLst>
          </a:prstGeom>
          <a:solidFill>
            <a:srgbClr val="F5F7FA"/>
          </a:solidFill>
          <a:ln w="12700">
            <a:solidFill>
              <a:srgbClr val="EDF1F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8368" y="6071616"/>
            <a:ext cx="10744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82230"/>
                </a:solidFill>
              </a:rPr>
              <a:t>Redundancy is material and should be handled during model development through regularization and ablation, not by univariate rules alone.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Readiness Assessment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The feature set is ready for model development, with clear primary, challenger and low-priority groups.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110642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6473952"/>
            <a:ext cx="11064240" cy="0"/>
          </a:xfrm>
          <a:prstGeom prst="line">
            <a:avLst/>
          </a:prstGeom>
          <a:noFill/>
          <a:ln w="9525">
            <a:solidFill>
              <a:srgbClr val="E6EB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65392"/>
            <a:ext cx="5943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B7280"/>
                </a:solidFill>
              </a:rPr>
              <a:t>Fraud Alert Vulnerability • Engineered Feature Validation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11064240" y="6565392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6B7280"/>
                </a:solidFill>
              </a:rPr>
              <a:t>11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685800" y="1353312"/>
            <a:ext cx="3429000" cy="3794760"/>
          </a:xfrm>
          <a:prstGeom prst="roundRect">
            <a:avLst>
              <a:gd name="adj" fmla="val 2133"/>
            </a:avLst>
          </a:prstGeom>
          <a:solidFill>
            <a:srgbClr val="E9F7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60020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9A8A"/>
                </a:solidFill>
              </a:rPr>
              <a:t>PRIMARY / KEEP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78408" y="208483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82230"/>
                </a:solidFill>
              </a:rPr>
              <a:t>• active_accounts_changed_flag</a:t>
            </a:r>
            <a:endParaRPr lang="en-US" sz="830" dirty="0"/>
          </a:p>
        </p:txBody>
      </p:sp>
      <p:sp>
        <p:nvSpPr>
          <p:cNvPr id="11" name="Text 9"/>
          <p:cNvSpPr/>
          <p:nvPr/>
        </p:nvSpPr>
        <p:spPr>
          <a:xfrm>
            <a:off x="978408" y="2432304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82230"/>
                </a:solidFill>
              </a:rPr>
              <a:t>• active_accounts_change_vs_baseline</a:t>
            </a:r>
            <a:endParaRPr lang="en-US" sz="830" dirty="0"/>
          </a:p>
        </p:txBody>
      </p:sp>
      <p:sp>
        <p:nvSpPr>
          <p:cNvPr id="12" name="Text 10"/>
          <p:cNvSpPr/>
          <p:nvPr/>
        </p:nvSpPr>
        <p:spPr>
          <a:xfrm>
            <a:off x="978408" y="2779776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82230"/>
                </a:solidFill>
              </a:rPr>
              <a:t>• log1p_abs_balance_change_model</a:t>
            </a:r>
            <a:endParaRPr lang="en-US" sz="830" dirty="0"/>
          </a:p>
        </p:txBody>
      </p:sp>
      <p:sp>
        <p:nvSpPr>
          <p:cNvPr id="13" name="Text 11"/>
          <p:cNvSpPr/>
          <p:nvPr/>
        </p:nvSpPr>
        <p:spPr>
          <a:xfrm>
            <a:off x="978408" y="3127248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82230"/>
                </a:solidFill>
              </a:rPr>
              <a:t>• balance_change_model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978408" y="3474720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82230"/>
                </a:solidFill>
              </a:rPr>
              <a:t>• balance / utilization availability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978408" y="382219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82230"/>
                </a:solidFill>
              </a:rPr>
              <a:t>• avg_utilization_change_model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4480560" y="1353312"/>
            <a:ext cx="3429000" cy="3794760"/>
          </a:xfrm>
          <a:prstGeom prst="roundRect">
            <a:avLst>
              <a:gd name="adj" fmla="val 2133"/>
            </a:avLst>
          </a:prstGeom>
          <a:solidFill>
            <a:srgbClr val="EAF3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5152" y="160020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5A8A"/>
                </a:solidFill>
              </a:rPr>
              <a:t>CHALLENGER / INCREMENTAL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73168" y="208483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82230"/>
                </a:solidFill>
              </a:rPr>
              <a:t>• active_accounts_z_model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4773168" y="2432304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82230"/>
                </a:solidFill>
              </a:rPr>
              <a:t>• avg_utilization_z_model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4773168" y="2779776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82230"/>
                </a:solidFill>
              </a:rPr>
              <a:t>• weighted_utilization_z_model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4773168" y="3127248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82230"/>
                </a:solidFill>
              </a:rPr>
              <a:t>• weighted_utilization_change_model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8275320" y="1353312"/>
            <a:ext cx="3429000" cy="3794760"/>
          </a:xfrm>
          <a:prstGeom prst="roundRect">
            <a:avLst>
              <a:gd name="adj" fmla="val 2133"/>
            </a:avLst>
          </a:prstGeom>
          <a:solidFill>
            <a:srgbClr val="F5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39912" y="160020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LOW PRIORITY / WEAK MARGINAL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567928" y="208483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82230"/>
                </a:solidFill>
              </a:rPr>
              <a:t>• deterioration_acceleration</a:t>
            </a:r>
            <a:endParaRPr lang="en-US" sz="830" dirty="0"/>
          </a:p>
        </p:txBody>
      </p:sp>
      <p:sp>
        <p:nvSpPr>
          <p:cNvPr id="25" name="Text 23"/>
          <p:cNvSpPr/>
          <p:nvPr/>
        </p:nvSpPr>
        <p:spPr>
          <a:xfrm>
            <a:off x="8567928" y="2432304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82230"/>
                </a:solidFill>
              </a:rPr>
              <a:t>• adverse_acceleration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8567928" y="2779776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82230"/>
                </a:solidFill>
              </a:rPr>
              <a:t>• max_dpd_jump_recent_3m</a:t>
            </a:r>
            <a:endParaRPr lang="en-US" sz="830" dirty="0"/>
          </a:p>
        </p:txBody>
      </p:sp>
      <p:sp>
        <p:nvSpPr>
          <p:cNvPr id="27" name="Text 25"/>
          <p:cNvSpPr/>
          <p:nvPr/>
        </p:nvSpPr>
        <p:spPr>
          <a:xfrm>
            <a:off x="8567928" y="3127248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82230"/>
                </a:solidFill>
              </a:rPr>
              <a:t>• past_due numeric change</a:t>
            </a:r>
            <a:endParaRPr lang="en-US" sz="830" dirty="0"/>
          </a:p>
        </p:txBody>
      </p:sp>
      <p:sp>
        <p:nvSpPr>
          <p:cNvPr id="28" name="Text 26"/>
          <p:cNvSpPr/>
          <p:nvPr/>
        </p:nvSpPr>
        <p:spPr>
          <a:xfrm>
            <a:off x="8567928" y="3474720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82230"/>
                </a:solidFill>
              </a:rPr>
              <a:t>• delinquency numeric change</a:t>
            </a:r>
            <a:endParaRPr lang="en-US" sz="830" dirty="0"/>
          </a:p>
        </p:txBody>
      </p:sp>
      <p:sp>
        <p:nvSpPr>
          <p:cNvPr id="29" name="Text 27"/>
          <p:cNvSpPr/>
          <p:nvPr/>
        </p:nvSpPr>
        <p:spPr>
          <a:xfrm>
            <a:off x="777240" y="544068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0B1F3A"/>
                </a:solidFill>
              </a:rPr>
              <a:t>Readiness matrix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2788920" y="535838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10" dirty="0">
                <a:solidFill>
                  <a:srgbClr val="6B7280"/>
                </a:solidFill>
              </a:rPr>
              <a:t>Feature separation</a:t>
            </a:r>
            <a:endParaRPr lang="en-US" sz="710" dirty="0"/>
          </a:p>
        </p:txBody>
      </p:sp>
      <p:sp>
        <p:nvSpPr>
          <p:cNvPr id="31" name="Shape 29"/>
          <p:cNvSpPr/>
          <p:nvPr/>
        </p:nvSpPr>
        <p:spPr>
          <a:xfrm>
            <a:off x="4069080" y="5303520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E9F7F4"/>
          </a:solidFill>
          <a:ln w="12700">
            <a:solidFill>
              <a:srgbClr val="E9F7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42232" y="5353812"/>
            <a:ext cx="1133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D9A8A"/>
                </a:solidFill>
              </a:rPr>
              <a:t>PASS — heterogeneous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5577840" y="535838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10" dirty="0">
                <a:solidFill>
                  <a:srgbClr val="6B7280"/>
                </a:solidFill>
              </a:rPr>
              <a:t>Availability signal</a:t>
            </a:r>
            <a:endParaRPr lang="en-US" sz="710" dirty="0"/>
          </a:p>
        </p:txBody>
      </p:sp>
      <p:sp>
        <p:nvSpPr>
          <p:cNvPr id="34" name="Shape 32"/>
          <p:cNvSpPr/>
          <p:nvPr/>
        </p:nvSpPr>
        <p:spPr>
          <a:xfrm>
            <a:off x="6858000" y="5303520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FEF2E3"/>
          </a:solidFill>
          <a:ln w="12700">
            <a:solidFill>
              <a:srgbClr val="FEF2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31152" y="5353812"/>
            <a:ext cx="1133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D87922"/>
                </a:solidFill>
              </a:rPr>
              <a:t>MATERIAL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8366760" y="535838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10" dirty="0">
                <a:solidFill>
                  <a:srgbClr val="6B7280"/>
                </a:solidFill>
              </a:rPr>
              <a:t>Non-linearity</a:t>
            </a:r>
            <a:endParaRPr lang="en-US" sz="710" dirty="0"/>
          </a:p>
        </p:txBody>
      </p:sp>
      <p:sp>
        <p:nvSpPr>
          <p:cNvPr id="37" name="Shape 35"/>
          <p:cNvSpPr/>
          <p:nvPr/>
        </p:nvSpPr>
        <p:spPr>
          <a:xfrm>
            <a:off x="9646920" y="5303520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FEF2E3"/>
          </a:solidFill>
          <a:ln w="12700">
            <a:solidFill>
              <a:srgbClr val="FEF2E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720072" y="5353812"/>
            <a:ext cx="1133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D87922"/>
                </a:solidFill>
              </a:rPr>
              <a:t>MATERIAL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2788920" y="572414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10" dirty="0">
                <a:solidFill>
                  <a:srgbClr val="6B7280"/>
                </a:solidFill>
              </a:rPr>
              <a:t>Z-score replacement</a:t>
            </a:r>
            <a:endParaRPr lang="en-US" sz="710" dirty="0"/>
          </a:p>
        </p:txBody>
      </p:sp>
      <p:sp>
        <p:nvSpPr>
          <p:cNvPr id="40" name="Shape 38"/>
          <p:cNvSpPr/>
          <p:nvPr/>
        </p:nvSpPr>
        <p:spPr>
          <a:xfrm>
            <a:off x="4069080" y="5669280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42232" y="5719572"/>
            <a:ext cx="1133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B7280"/>
                </a:solidFill>
              </a:rPr>
              <a:t>NOT SUPPORTED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5577840" y="572414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10" dirty="0">
                <a:solidFill>
                  <a:srgbClr val="6B7280"/>
                </a:solidFill>
              </a:rPr>
              <a:t>Z-score challenger use</a:t>
            </a:r>
            <a:endParaRPr lang="en-US" sz="710" dirty="0"/>
          </a:p>
        </p:txBody>
      </p:sp>
      <p:sp>
        <p:nvSpPr>
          <p:cNvPr id="43" name="Shape 41"/>
          <p:cNvSpPr/>
          <p:nvPr/>
        </p:nvSpPr>
        <p:spPr>
          <a:xfrm>
            <a:off x="6858000" y="5669280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E9F7F4"/>
          </a:solidFill>
          <a:ln w="12700">
            <a:solidFill>
              <a:srgbClr val="E9F7F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31152" y="5719572"/>
            <a:ext cx="1133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D9A8A"/>
                </a:solidFill>
              </a:rPr>
              <a:t>SUPPORTED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8366760" y="572414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10" dirty="0">
                <a:solidFill>
                  <a:srgbClr val="6B7280"/>
                </a:solidFill>
              </a:rPr>
              <a:t>Multi-signal convergence</a:t>
            </a:r>
            <a:endParaRPr lang="en-US" sz="710" dirty="0"/>
          </a:p>
        </p:txBody>
      </p:sp>
      <p:sp>
        <p:nvSpPr>
          <p:cNvPr id="46" name="Shape 44"/>
          <p:cNvSpPr/>
          <p:nvPr/>
        </p:nvSpPr>
        <p:spPr>
          <a:xfrm>
            <a:off x="9646920" y="5669280"/>
            <a:ext cx="1280160" cy="256032"/>
          </a:xfrm>
          <a:prstGeom prst="roundRect">
            <a:avLst>
              <a:gd name="adj" fmla="val 21429"/>
            </a:avLst>
          </a:prstGeom>
          <a:solidFill>
            <a:srgbClr val="E9F7F4"/>
          </a:solidFill>
          <a:ln w="12700">
            <a:solidFill>
              <a:srgbClr val="E9F7F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720072" y="5719572"/>
            <a:ext cx="1133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D9A8A"/>
                </a:solidFill>
              </a:rPr>
              <a:t>SUPPORTED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777240" y="614476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82230"/>
                </a:solidFill>
              </a:rPr>
              <a:t>Final assessment: engineered features are suitable to proceed to model development; final removal decisions should be based on model regularization, stability and ablation.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 Alert Vulnerability — Engineered Feature Validation</dc:title>
  <dc:subject>Engineered Feature Validation</dc:subject>
  <dc:creator>OpenAI</dc:creator>
  <cp:lastModifiedBy>OpenAI</cp:lastModifiedBy>
  <cp:revision>1</cp:revision>
  <dcterms:created xsi:type="dcterms:W3CDTF">2026-10-02T15:02:05Z</dcterms:created>
  <dcterms:modified xsi:type="dcterms:W3CDTF">2026-10-02T15:02:05Z</dcterms:modified>
</cp:coreProperties>
</file>
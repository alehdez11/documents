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sugerida: “Este no es un taller sobre póker; es un taller sobre cómo decidir con información incompleta, suerte y sesgos. Vamos a usar el libro como mapa y nuestras decisiones reales como laboratorio.”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la secuencia es acumulativa: primero evitamos juzgar por resultado, luego calibramos incertidumbre, después creamos mejores conversaciones y terminamos con herramientas para planear futuros posibles.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explicativos: 1) El libro usa el contraste póker vs. ajedrez: en ajedrez casi toda la información está visible; en la vida no. 2) “Resulting” es evaluar una decisión únicamente por el resultado. 3) Un mal resultado puede venir de una buena decisión con mala suerte; un buen resultado puede esconder una mala decisión. 4) La sesión debe normalizar frases como: “Con lo que sabíamos en ese momento, ¿qué tan razonable era la decisión?” Ejemplos prácticos: lanzamiento que falló pese a buena investigación; decisión apresurada que salió bien por factores externos; contratación bien diseñada con resultado incierto.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para explicar: si decidimos con datos sólidos, alternativas claras y riesgos conocidos, el proceso pudo ser bueno aunque el resultado no haya gustado. Al revés, una decisión improvisada puede funcionar una vez y aun así ser peligrosa como hábito.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debatir si la jugada fue “correcta”. Lo importante es que un solo desenlace no debe cerrar la conversación. Pregunta: “¿Qué información era disponible antes del resultado?”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Facilitación: 2 min para elegir, 3 min para listar información previa, 2 min para ubicar en matriz, 3 min para compartir. Cierre: “¿Qué conversación cambiaría si revisáramos decisiones así?”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explicativos: 1) En el libro, una apuesta no siempre implica dinero; implica escoger entre futuros inciertos. 2) “No estoy seguro” ayuda a abrir la puerta a nueva información. 3) Calibrar no es adivinar perfecto; es evitar extremos de 0%/100%. 4) “Wanna bet?” funciona como una pregunta mental: ¿qué evidencia tengo?, ¿qué estoy omitiendo?, ¿qué sabría alguien que discrepa? Ejemplos: estimar fecha de entrega, adopción de una herramienta, respuesta de clientes, impacto de un cambio de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decisiones cotidianas del equipo: priorización, roadmaps, contratación, automatización, cambios de proceso. Cada una tiene recursos, creencias, riesgo y alternativas abandonadas.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a los participantes que practiquen con una afirmación real. Recalca que 70% no es tibieza: es precisión y humildad.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preguntas vienen de la lógica de “Wanna bet?”: no hace falta apostar dinero. Basta con preguntarse si estaríamos dispuestos a sostener la afirmación con algo en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 para equipos: fechas de entrega, riesgos, dependencias, supuestos de clientes. Si hay mucha sensibilidad, usar ejemplos hipotéticos.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explicativos: 1) Annie Duke plantea que no basta con querer ser objetivo; nuestras mentes defienden creencias y autoestima. 2) Un grupo puede ser una cámara de eco o un sistema de precisión. 3) CUDOS ofrece reglas de interacción: compartir datos, evaluar ideas por mérito, declarar conflictos de interés y organizar el escepticismo. 4) El objetivo es crear seguridad para disentir sin volverlo personal. Ejemplos: revisión de incidentes, decisiones de arquitectura, hipótesis de negocio, prioridades del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equipos: cuando hay presión por entregar, el grupo puede volverse confirmatorio. La meta es crear un contexto donde sea seguro decir: “puedo estar equivocado”.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CUDOS proviene de normas científicas adaptadas por Duke para grupos de decisión. No es burocracia: es un contrato social para buscar precisión.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 con frases reales: sustituir “pero” por “y”; sustituir “estás equivocado” por “¿qué evidencia nos movería?”.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 min para contrato, 4 min para compartir una regla por grupo. Recomienda seleccionar una regla para experimentar durante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explicativos: 1) Duke usa “viaje mental en el tiempo” para traer a nuestro yo futuro y pasado al momento de decidir. 2) 10-10-10 reduce reactividad: consecuencias en 10 min, 10 meses, 10 años. 3) Contratos de Ulises son precompromisos que crean interrupciones antes de decisiones irracionales. 4) Scenario planning, backcasting y premortems nos obligan a representar más de un futuro, reduciendo hindsight bias y resulting. Ejemplos: lanzamiento, cambio de proceso, migración, contratación, estrategia trimestral.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ejemplos cotidianos: responder un correo molesto, escalar un conflicto, comprar una herramienta, cambiar una prioridad. 10-10-10 no predice; cambia la distancia emocional.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mito de Ulises y las sirenas en una frase. En equipos, los contratos de Ulises suelen ser checklists, umbrales, revisiones obligatorias, límites presupuestarios, o pausas antes de decisiones emocionales.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expected value si el equipo es analítico: valor esperado = resultado potencial × probabilidad. Útil para prioridades con impacto incierto.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Backcasting es útil para planear acciones desde el éxito. Premortem da permiso explícito para ser escépticos antes de que sea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 escoger iniciativa, 3 min premortem, 3 min backcasting, 2 min acciones. Es mejor una iniciativa real pero acotada, como “mejorar onboarding” o “lanzar dashboard”.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sugerido: cada persona completa: “En mi próxima decisión importante, voy a…” Si hay tiempo, compartir en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puede quedar como backup o mostrarse al facilitador.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Thinking in Bets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CCC5"/>
                </a:solidFill>
              </a:rPr>
              <a:t>Taller en 4 sesiones para decidir mejor cuando no tenemos todos los datos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931920" cy="0"/>
          </a:xfrm>
          <a:prstGeom prst="line">
            <a:avLst/>
          </a:prstGeom>
          <a:noFill/>
          <a:ln w="381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23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Diseñado para compañeros de un mismo equipo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Duración: 4 × 45 minutos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52578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9EEF6"/>
                </a:solidFill>
              </a:rPr>
              <a:t>Idea central: una buena decisión no garantiza un buen resultado; por eso necesitamos mejores hábitos para pensar en incertidumbre.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⚖️  🎲  🔍  🧭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del taller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Programa completo • 4 sesiones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5F5C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5910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Decisión vs. resultado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423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Separar proceso, suerte y desenlace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246120" y="1856232"/>
            <a:ext cx="27432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6616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A8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60520" y="15910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Probabilidad e incertidumbre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423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Calibrar creencias y niveles de confianza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080760" y="1856232"/>
            <a:ext cx="27432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460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15910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Grupos de análisis y CUDOS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148840"/>
            <a:ext cx="2423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Diseñar conversaciones que reduzcan sesgos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915400" y="1856232"/>
            <a:ext cx="27432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23544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267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829800" y="15910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Estrategias del futuro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148840"/>
            <a:ext cx="2423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Pre-mortems, backcasting y compromisos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Cada sesión mezcla: explicación del libro + discusión guiada + ejercicio práctico + aplicación al trabajo del equipo.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1: Decisión vs. resultado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Decisión vs. resultado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1 • guía de 45 minutos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Objetivo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Comprender por qué juzgar una decisión solo por su desenlace genera aprendizaje equivocado y conversaciones defensivas.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Índice temático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5120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Life is poker, not chess: la vida tiene azar e información oculta.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Resulting: confundir calidad del resultado con calidad de la decisión.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Suerte vs. habilidad: cómo separar señales de ruido.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Revisar decisiones por proceso, no por “ganamos/perdimos”.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0561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</a:rPr>
              <a:t>Dinámica de 10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En parejas: elegir una decisión reciente del equipo y ubicarla en una matriz 2×2: proceso bueno/malo vs. resultado bueno/malo. Luego compartir qué habríamos aprendido si solo miráramos el resultado.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</a:rPr>
              <a:t>Pregunta de apertura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5468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</a:rPr>
              <a:t>¿Qué decisión reciente fue criticada o celebrada solo porque salió bien o mal?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trampa: “salió mal, entonces fue mala decisión”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Decisión vs. resultado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1 • concepto central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El libro propone separar dos cosas que solemos mezclar: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A8A8"/>
                </a:solidFill>
              </a:rPr>
              <a:t>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527048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Calidad de la decisión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5F5C"/>
                </a:solidFill>
              </a:rPr>
              <a:t>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527048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Calidad del resultado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4754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Una decisión es una apuesta bajo incertidumbre. El resultado contiene información, pero también suerte, azar, timing, contexto y acciones de otros.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823960" y="2057400"/>
            <a:ext cx="0" cy="27432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429000"/>
            <a:ext cx="466344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170"/>
                </a:solidFill>
              </a:rPr>
              <a:t>Resultado bueno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2124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170"/>
                </a:solidFill>
              </a:rPr>
              <a:t>Resultado malo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16200000">
            <a:off x="6035040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170"/>
                </a:solidFill>
              </a:rPr>
              <a:t>Decisión buena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 rot="16200000">
            <a:off x="6035040" y="3913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170"/>
                </a:solidFill>
              </a:rPr>
              <a:t>Decisión mala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2185416"/>
            <a:ext cx="2112264" cy="1115568"/>
          </a:xfrm>
          <a:prstGeom prst="roundRect">
            <a:avLst>
              <a:gd name="adj" fmla="val 6557"/>
            </a:avLst>
          </a:prstGeom>
          <a:solidFill>
            <a:srgbClr val="64CCC5">
              <a:alpha val="90000"/>
            </a:srgbClr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4963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Buen proceso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+ buen resultado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33688" y="2185416"/>
            <a:ext cx="2112264" cy="1115568"/>
          </a:xfrm>
          <a:prstGeom prst="roundRect">
            <a:avLst>
              <a:gd name="adj" fmla="val 6557"/>
            </a:avLst>
          </a:prstGeom>
          <a:solidFill>
            <a:srgbClr val="F7B267">
              <a:alpha val="90000"/>
            </a:srgbClr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4963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Buen proceso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+ mala suerte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01968" y="3557016"/>
            <a:ext cx="2112264" cy="1115568"/>
          </a:xfrm>
          <a:prstGeom prst="roundRect">
            <a:avLst>
              <a:gd name="adj" fmla="val 6557"/>
            </a:avLst>
          </a:prstGeom>
          <a:solidFill>
            <a:srgbClr val="F25F5C">
              <a:alpha val="90000"/>
            </a:srgbClr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867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Mala decisión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+ suerte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33688" y="3557016"/>
            <a:ext cx="2112264" cy="1115568"/>
          </a:xfrm>
          <a:prstGeom prst="roundRect">
            <a:avLst>
              <a:gd name="adj" fmla="val 6557"/>
            </a:avLst>
          </a:prstGeom>
          <a:solidFill>
            <a:srgbClr val="E9EEF6">
              <a:alpha val="90000"/>
            </a:srgbClr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867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Mala decisión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+ mal resultado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</a:rPr>
              <a:t>Idea fuerza: revisa el proceso antes de revisar el marcador.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Ejemplos del libro para aterrizar la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Decisión vs. resultado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1 • ejemplos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5F5C"/>
                </a:solidFill>
              </a:rPr>
              <a:t>Pete Carroll en el Super Bowl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4983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La jugada terminó en intercepción; la reacción pública fue etiquetarla como “la peor decisión”. Annie Duke la usa para mostrar cómo el resultado domina nuestro juicio.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A8"/>
                </a:solidFill>
              </a:rPr>
              <a:t>El CEO que despidió al presidente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983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El reemplazo salió mal, así que el CEO concluyó que despedirlo fue un error. Al revisar el proceso, había razones y análisis. Era quizá un mal resultado, no necesariamente una mala decisión.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0" cy="2834640"/>
          </a:xfrm>
          <a:prstGeom prst="line">
            <a:avLst/>
          </a:prstGeom>
          <a:noFill/>
          <a:ln w="254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Pregunta al grupo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45902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¿Qué caso del equipo se parece más: una buena decisión castigada por un mal resultado o una mala decisión premiada por suerte?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Dinámica 10 min: Auditoría de una decisión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Decisión vs. resultado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1 • ejercicio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Elegir decisión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1488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82880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Listar información previa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21488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Separar resultado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1488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1828800"/>
            <a:ext cx="640080" cy="640080"/>
          </a:xfrm>
          <a:prstGeom prst="ellipse">
            <a:avLst/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Ubicar en matriz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21488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1828800"/>
            <a:ext cx="640080" cy="64008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Aprendizaje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Instrucciones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4251960"/>
            <a:ext cx="102412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Usen una decisión real, no sensible ni personal.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Prohibido usar el resultado como primera evidencia.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Pregunten: “¿Qué sabíamos antes?” y “¿qué no controlábamos?”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Cierren con una mejora al proceso, no con una culpa.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2: Evaluación probabilística y calibración de la incertidumbre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Evaluación probabilística y calibración de la incertidumbre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2 • guía de 45 minutos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Objetivo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Practicar una forma más precisa de hablar de creencias, riesgos y confianza para decidir mejor sin exigir certeza.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Índice temático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5120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Todas las decisiones son apuestas: elegir un futuro y renunciar a otros.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“No estoy seguro” como punto de partida útil, no como debilidad.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Calibración: expresar confianza en porcentajes o rangos.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“¿Apostarías por eso?” como prueba mental para revisar evidencia.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0561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</a:rPr>
              <a:t>Dinámica de 10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Mini-mercado de creencias: cada participante escribe 3 afirmaciones del trabajo con un nivel de confianza 0–100%. El grupo pregunta evidencia, fuentes y alternativas; luego recalibran.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</a:rPr>
              <a:t>Pregunta de apertura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5468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</a:rPr>
              <a:t>¿Qué afirmación hacemos con 100% de seguridad aunque en realidad sea una apuesta?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Todas las decisiones son apuestas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Probabilidad e incertidumbre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2 • concepto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13E"/>
                </a:solidFill>
              </a:rPr>
              <a:t>Decidir = elegir un futuro posible y dejar otros sobre la mesa.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Recursos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tiempo, dinero, atención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Creencias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 que creemos que pasará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Riesgo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 que puede salir distinto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2124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8972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Costo de oportunidad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 que ya no haremos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937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Ejemplo de equipo: “Aceptar este proyecto” no es solo decir sí; también es apostar que el beneficio supera el costo de no hacer otras opciones.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Calibrar: de “estoy seguro” a “estoy 70%”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Probabilidad e incertidumbre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2 • herramienta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</a:rPr>
              <a:t>Una buena discusión no elimina la incertidumbre; la hace visible.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88720" y="3017520"/>
            <a:ext cx="9692640" cy="0"/>
          </a:xfrm>
          <a:prstGeom prst="line">
            <a:avLst/>
          </a:prstGeom>
          <a:noFill/>
          <a:ln w="25400">
            <a:solidFill>
              <a:srgbClr val="5B61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57984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20%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96512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40%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04304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60%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73568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2832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41664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80%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912096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1360" y="2907792"/>
            <a:ext cx="0" cy="22860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8019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0"/>
                </a:solidFill>
              </a:rPr>
              <a:t>100%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2359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0% imposible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2359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100% seguro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A8"/>
                </a:solidFill>
              </a:rPr>
              <a:t>Cambiar el lenguaje cambia la calidad de la conversación: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4526280"/>
            <a:ext cx="10149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</a:rPr>
              <a:t>“Creo que llegamos el viernes” → “Estoy 65% seguro de llegar el viernes”.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“Eso no funcionará” → “Le doy 30% de probabilidad; mis dudas son…”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“El cliente lo aprobará” → “Rango: 50–70%, depende de X y Y”.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calibrar una creencia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Probabilidad e incertidumbre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2 • preguntas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A8"/>
                </a:solidFill>
              </a:rPr>
              <a:t>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1444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¿Cómo lo sé?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F5C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587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¿De dónde salió esa información?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A8"/>
                </a:solidFill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¿Qué evidencia me haría bajar mi confianza?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F5C"/>
                </a:solidFill>
              </a:rPr>
              <a:t>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03720" y="1444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¿Qué sabe alguien que no está de acuerdo?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A8"/>
                </a:solidFill>
              </a:rPr>
              <a:t>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2587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¿Qué alternativas plausibles existen?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F5C"/>
                </a:solidFill>
              </a:rPr>
              <a:t>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03720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¿Qué tan actualizada está la información?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303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Dinámica rápida: antes de defender tu opinión, intenta bajar o subir tu propio porcentaje con nueva evidencia.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Dinámica 10 min: Mini-mercado de creencias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Probabilidad e incertidumbre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2 • ejercicio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Escribir 3 afirmaciones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96596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645920"/>
            <a:ext cx="640080" cy="640080"/>
          </a:xfrm>
          <a:prstGeom prst="ellipse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Asignar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196596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1645920"/>
            <a:ext cx="640080" cy="64008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Preguntar evidencia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196596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1645920"/>
            <a:ext cx="640080" cy="640080"/>
          </a:xfrm>
          <a:prstGeom prst="ellipse">
            <a:avLst/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Recalibrar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196596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1645920"/>
            <a:ext cx="640080" cy="640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Registrar cambio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Plantilla para cada afirmación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“Creo que __________. Mi confianza inicial es ___%. Después de escuchar evidencia, mi confianza es ___%. Cambió porque __________.”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A8"/>
                </a:solidFill>
              </a:rPr>
              <a:t>Cierre: el éxito no es “ganar la discusión”; es ajustar mejor la creencia.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3: Construcción de grupos de análisis y superación de sesgos (CUDOS)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Construcción de grupos de análisis y superación de sesgos (CUDOS)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3 • guía de 45 minutos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Objetivo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Diseñar una forma de conversación en equipo que premie precisión, datos y disenso útil, en vez de confirmar lo que ya creemos.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Índice temático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5120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Sesgo de confirmación y razonamiento motivado.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 “buddy system”: necesitamos otros para ver puntos ciegos.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CUDOS: datos compartidos, estándares universales, desinterés y escepticismo organizado.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Normas de comunicación: disentir sin atacar.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0561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</a:rPr>
              <a:t>Dinámica de 10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Crear un “contrato de pod de decisión”: 4 reglas del equipo para revisar decisiones difíciles con CUDOS y una frase segura para pedir disenso.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</a:rPr>
              <a:t>Pregunta de apertura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5468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</a:rPr>
              <a:t>¿Nuestro equipo premia más estar en lo correcto o aprender más rápido?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grupo puede ser lupa… o cámara de eco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Grupos y sesgos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3 • concepto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5F5C"/>
                </a:solidFill>
              </a:rPr>
              <a:t>Confirmatorio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8"/>
                </a:solidFill>
              </a:rPr>
              <a:t>Exploratorio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43891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Defiende una conclusión.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Busca aliados para validar.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Penaliza dudas.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Convierte desacuerdo en amenaza.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240280"/>
            <a:ext cx="43891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Examina alternativas.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Busca datos que cambien el juicio.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Premia “no estoy seguro”.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Convierte desacuerdo en insumo.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0" cy="3429000"/>
          </a:xfrm>
          <a:prstGeom prst="line">
            <a:avLst/>
          </a:prstGeom>
          <a:noFill/>
          <a:ln w="254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66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La diferencia no es “ser más inteligentes”; es tener reglas de conversación que orienten a la precisión.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CUDOS: reglas para pensar mejor juntos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Grupos y CUDOS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3 • marco CUDOS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A8"/>
                </a:solidFill>
              </a:rPr>
              <a:t>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1435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Comunismo de datos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La información relevante pertenece al grupo: contar lo que ayuda y lo que incomoda.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F5C"/>
                </a:solidFill>
              </a:rPr>
              <a:t>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Universalismo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429000"/>
            <a:ext cx="4572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Evaluar la idea por su mérito, no por quién la dijo.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35508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460"/>
                </a:solidFill>
              </a:rPr>
              <a:t>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32320" y="1435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Desinterés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Reconocer conflictos de interés, sesgos e incentivos.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B267"/>
                </a:solidFill>
              </a:rPr>
              <a:t>OS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Escepticismo organizado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32320" y="3429000"/>
            <a:ext cx="4572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Asignar permiso explícito para cuestionar y buscar la otra hipótesis.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Aplicación directa: reuniones de decisión, retrospectivas, postmortems, revisión de supuestos y estrategia.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disentir sin romper la colaboración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Grupos y CUDOS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3 • comunicación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</a:rPr>
              <a:t>Expresa incertidumbre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“Puedo estar equivocado, pero…”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5F5C"/>
                </a:solidFill>
              </a:rPr>
              <a:t>Empieza con acuerdo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“Sí, y además consideraría…”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</a:rPr>
              <a:t>No reveles el resultado primero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Reduce el sesgo de resultado en la revisión.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5F5C"/>
                </a:solidFill>
              </a:rPr>
              <a:t>Pide permiso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“¿Quieres ventilar o quieres explorar opciones?”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Idea fuerza: el disenso útil suena a exploración, no a juicio.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Dinámica 10 min: Contrato de pod de decisión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Grupos y CUDOS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3 • ejercicio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En grupos de 3–4, diseñen un contrato simple para decisiones difíciles: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6692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¿Qué información debe compartirse siempre?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¿Cómo evitaremos juzgar ideas por jerarquía o simpatía?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¿Qué conflicto de interés debemos declarar?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¿Quién hará de “red team” o abogado del diablo?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A8"/>
                </a:solidFill>
              </a:rPr>
              <a:t>Producto del ejercicio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206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 reglas + 1 frase segura para pedir disenso.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Ejemplo: “Necesito CUDOS: díganme qué estoy omitiendo antes de decidir.”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Cierre: ¿qué regla haría nuestras reuniones más honestas sin hacerlas más pesadas?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4: Estrategias del futuro: Pre-mortems, Backcasting y viajes en el tiempo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futuro: Pre-mortems, Backcasting y viajes en el tiempo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guía de 45 minutos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Objetivo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Usar herramientas de “viaje mental en el tiempo” para planear mejor, anticipar fallas y reducir decisiones impulsivas.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Índice temático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5120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10-10-10: sacar la decisión del calor del momento.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Contratos de Ulises: precompromisos para protegernos de impulsos.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Scenario planning: mapear futuros y probabilidades.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Backcasting y premortem: planear desde el éxito y desde el fracaso.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0561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</a:rPr>
              <a:t>Dinámica de 10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Premortem + backcasting: seleccionar una iniciativa real. Primero imaginar que fracasó y listar causas; luego imaginar que tuvo éxito y listar pasos. Convertir 1 causa y 1 paso en acción preventiva.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</a:rPr>
              <a:t>Pregunta de apertura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5468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</a:rPr>
              <a:t>¿Qué decisión del equipo se beneficiaría de imaginarnos el futuro antes de actuar?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Viaje mental en el tiempo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concepto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</a:rPr>
              <a:t>Cuando estamos “en caliente”, sobredimensionamos el presente. Viajar mentalmente nos devuelve perspectiva.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Yo pasado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30632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2743200"/>
            <a:ext cx="640080" cy="64008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898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Decisión actual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306324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46320" y="274320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98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Yo futuro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</a:rPr>
              <a:t>Herramienta 10-10-10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4617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¿Cómo se verá esta decisión en 10 minutos, 10 meses y 10 años?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Contratos de Ulises: decidir antes de estar sesgados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precompromisos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Un contrato de Ulises crea una barrera o un recordatorio antes del momento de riesgo.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A8"/>
                </a:solidFill>
              </a:rPr>
              <a:t>Límite de pérdida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Definir cuándo parar antes de estar frustrado.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5F5C"/>
                </a:solidFill>
              </a:rPr>
              <a:t>Presupuesto máximo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Fijar límite antes de enamorarse de la opción.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A8"/>
                </a:solidFill>
              </a:rPr>
              <a:t>Regla de pausa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No decidir en “tilt”: dormirlo o pedir revisión.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5F5C"/>
                </a:solidFill>
              </a:rPr>
              <a:t>Swear jar de decisiones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3776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Detectar palabras absolutas: siempre, nunca, 100%, imposible.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Pregunta: ¿en qué momento del proceso necesitamos amarrarnos al mástil?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planning: posibilidades + probabilidades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escenarios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No se trata de predecir perfecto. Se trata de evitar fingir que solo existe un futuro.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</a:rPr>
              <a:t>Ejemplo de priorización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Opción A: impacto alto, 35% de probabilidad.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Opción B: impacto medio, 70% de probabilidad.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Opción C: impacto bajo, 90% de probabilidad.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5F5C"/>
                </a:solidFill>
              </a:rPr>
              <a:t>Preguntas de exploración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¿Qué tendría que pasar para cada escenario?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¿Qué señales tempranas observaríamos?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¿Qué haríamos si aparece cada futuro?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¿Qué probabilidad estamos asignando y por qué?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Principio: el plan mejora cuando el equipo puede nombrar futuros alternativos.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Backcasting y premortem: dos lentes complementarios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herramientas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</a:rPr>
              <a:t>Backcasting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2062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Imagina que logramos el objetivo.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¿Qué pasó para llegar ahí?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¿Qué decisiones, señales y recursos fueron clave?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</a:rPr>
              <a:t>Premortem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42062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Imagina que fracasamos.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¿Qué salió mal?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¿Qué riesgos, supuestos o sesgos ignoramos?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0" cy="2834640"/>
          </a:xfrm>
          <a:prstGeom prst="line">
            <a:avLst/>
          </a:prstGeom>
          <a:noFill/>
          <a:ln w="25400">
            <a:solidFill>
              <a:srgbClr val="E9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</a:rPr>
              <a:t>Juntos crean un mapa más completo: pasos para ganar + trampas a prevenir.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Dinámica 10 min: Premortem + backcasting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48006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</a:rPr>
              <a:t>Estrategias del futuro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Sesión 4 • ejercicio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09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Elegir iniciativa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87452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554480"/>
            <a:ext cx="640080" cy="64008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709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Fracaso futuro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187452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09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Éxito futuro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187452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1554480"/>
            <a:ext cx="640080" cy="640080"/>
          </a:xfrm>
          <a:prstGeom prst="ellipse">
            <a:avLst/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709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Acciones preventivas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1874520"/>
            <a:ext cx="594360" cy="0"/>
          </a:xfrm>
          <a:prstGeom prst="line">
            <a:avLst/>
          </a:prstGeom>
          <a:noFill/>
          <a:ln w="12700">
            <a:solidFill>
              <a:srgbClr val="5B617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1554480"/>
            <a:ext cx="640080" cy="6400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1709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Dueño + fecha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Plantilla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397764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1) “Fallamos porque…”  → listar 3 causas.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2) “Tuvimos éxito porque…” → listar 3 condiciones.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3) Convertir una causa y una condición en acciones con dueño y fecha.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55321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</a:rPr>
              <a:t>Cierre: ¿qué acción preventiva merece entrar al plan esta semana?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Cierre del taller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CCC5"/>
                </a:solidFill>
              </a:rPr>
              <a:t>4 hábitos para llevar al equipo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66751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Revisar decisiones por proceso, no solo por resultado.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Hablar en probabilidades y rangos, no en certezas absolutas.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Crear un pod con CUDOS para decisiones importantes.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Antes de actuar, viajar al futuro: 10-10-10, premortem y backcasting.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1812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267"/>
                </a:solidFill>
              </a:rPr>
              <a:t>Compromiso de 30 días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266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Elijan una reunión o decisión recurrente y apliquen una herramienta del taller durante un mes. Luego revisen: ¿qué mejoró en la calidad de la conversación?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26364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EF6"/>
                </a:solidFill>
              </a:rPr>
              <a:t>Fuente: Annie Duke, Thinking in Bets: Making Smarter Decisions When You Don’t Have All the Facts.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sugerida de 45 minutos por sesión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Apéndice • facilitación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12480" y="6473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191"/>
                </a:solidFill>
              </a:rPr>
              <a:t>Thinking in Bets • Annie Duke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A8"/>
                </a:solidFill>
              </a:rPr>
              <a:t>0–5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Pregunta de apertura + conectar con experiencia del equipo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A8"/>
                </a:solidFill>
              </a:rPr>
              <a:t>5–20 min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40280" y="22402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Explicación del libro: concepto central + ejemplo práctico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A8"/>
                </a:solidFill>
              </a:rPr>
              <a:t>20–30 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3063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Discusión guiada con preguntas de calibración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A8"/>
                </a:solidFill>
              </a:rPr>
              <a:t>30–40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38862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Dinámica práctica de aplicación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A8"/>
                </a:solidFill>
              </a:rPr>
              <a:t>40–45 min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40280" y="47091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Cierre: aprendizaje + experimento para el trabajo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Sugerencia: mantén el tono entre colegas; no busques “corregir” a nadie, sino crear mejores conversaciones de decisión.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in Bets: taller de decisiones en 4 sesiones</dc:title>
  <dc:subject>Taller Thinking in Bets - 4 sesiones</dc:subject>
  <dc:creator>OpenAI</dc:creator>
  <cp:lastModifiedBy>OpenAI</cp:lastModifiedBy>
  <cp:revision>1</cp:revision>
  <dcterms:created xsi:type="dcterms:W3CDTF">2026-09-29T19:44:28Z</dcterms:created>
  <dcterms:modified xsi:type="dcterms:W3CDTF">2026-09-29T19:44:28Z</dcterms:modified>
</cp:coreProperties>
</file>
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5B667A"/>
                </a:solidFill>
              </a:rPr>
              <a:t>FRAUD ALERT VULNERABILITY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Review for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Science Leadership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22128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A"/>
                </a:solidFill>
              </a:rPr>
              <a:t>A data-driven storyline: question → decision → evidence → next decision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292608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03580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5B667A"/>
                </a:solidFill>
              </a:rPr>
              <a:t>Modeled parties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731520" y="32735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15A"/>
                </a:solidFill>
              </a:rPr>
              <a:t>688,589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69417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B667A"/>
                </a:solidFill>
              </a:rPr>
              <a:t>TRAIN + VALIDATION + TEST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3063240" y="2926080"/>
            <a:ext cx="20574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303580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5B667A"/>
                </a:solidFill>
              </a:rPr>
              <a:t>Case/control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3200400" y="327355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B7772B"/>
                </a:solidFill>
              </a:rPr>
              <a:t>1:10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00400" y="369417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B667A"/>
                </a:solidFill>
              </a:rPr>
              <a:t>sampled design</a:t>
            </a:r>
            <a:endParaRPr lang="en-US" sz="670" dirty="0"/>
          </a:p>
        </p:txBody>
      </p:sp>
      <p:sp>
        <p:nvSpPr>
          <p:cNvPr id="13" name="Shape 11"/>
          <p:cNvSpPr/>
          <p:nvPr/>
        </p:nvSpPr>
        <p:spPr>
          <a:xfrm>
            <a:off x="5394960" y="2926080"/>
            <a:ext cx="21488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303580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5B667A"/>
                </a:solidFill>
              </a:rPr>
              <a:t>Outcome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5532120" y="32735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57A57"/>
                </a:solidFill>
              </a:rPr>
              <a:t>Next 3m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532120" y="369417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B667A"/>
                </a:solidFill>
              </a:rPr>
              <a:t>future confirmed event</a:t>
            </a:r>
            <a:endParaRPr lang="en-US" sz="670" dirty="0"/>
          </a:p>
        </p:txBody>
      </p:sp>
      <p:sp>
        <p:nvSpPr>
          <p:cNvPr id="17" name="Shape 15"/>
          <p:cNvSpPr/>
          <p:nvPr/>
        </p:nvSpPr>
        <p:spPr>
          <a:xfrm>
            <a:off x="7818120" y="2926080"/>
            <a:ext cx="24231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0" y="303580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5B667A"/>
                </a:solidFill>
              </a:rPr>
              <a:t>Benchmark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7955280" y="327355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43A3A"/>
                </a:solidFill>
              </a:rPr>
              <a:t>AUPRC 0.1365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955280" y="369417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B667A"/>
                </a:solidFill>
              </a:rPr>
              <a:t>Model A validation</a:t>
            </a:r>
            <a:endParaRPr lang="en-US" sz="670" dirty="0"/>
          </a:p>
        </p:txBody>
      </p:sp>
      <p:sp>
        <p:nvSpPr>
          <p:cNvPr id="21" name="Shape 19"/>
          <p:cNvSpPr/>
          <p:nvPr/>
        </p:nvSpPr>
        <p:spPr>
          <a:xfrm>
            <a:off x="594360" y="4617720"/>
            <a:ext cx="9646920" cy="731520"/>
          </a:xfrm>
          <a:prstGeom prst="roundRect">
            <a:avLst>
              <a:gd name="adj" fmla="val 12500"/>
            </a:avLst>
          </a:prstGeom>
          <a:solidFill>
            <a:srgbClr val="F5F7FB"/>
          </a:solidFill>
          <a:ln w="12700">
            <a:solidFill>
              <a:srgbClr val="1731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" y="4709160"/>
            <a:ext cx="9354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17315A"/>
                </a:solidFill>
              </a:rPr>
              <a:t>SCOPE</a:t>
            </a:r>
            <a:endParaRPr lang="en-US" sz="580" dirty="0"/>
          </a:p>
        </p:txBody>
      </p:sp>
      <p:sp>
        <p:nvSpPr>
          <p:cNvPr id="23" name="Text 21"/>
          <p:cNvSpPr/>
          <p:nvPr/>
        </p:nvSpPr>
        <p:spPr>
          <a:xfrm>
            <a:off x="740664" y="4928616"/>
            <a:ext cx="9354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This deck uses only the validated Fraud Alert Vulnerability project development: cohort, temporal design, feature engineering, Current vs Z-score, and Model A/B. Example-presentation numbers are not reused.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02920" y="6556248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92A6"/>
                </a:solidFill>
              </a:rPr>
              <a:t>Validated project development only — no example-deck metrics reused</a:t>
            </a:r>
            <a:endParaRPr lang="en-US" sz="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5B667A"/>
                </a:solidFill>
              </a:rPr>
              <a:t>FRAUD ALERT VULNERABILITY | 01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analytical storyline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21208" y="108813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B667A"/>
                </a:solidFill>
              </a:rPr>
              <a:t>Each slide is structured like the reference decks: a question, the project decision, and the supporting evidence.</a:t>
            </a:r>
            <a:endParaRPr lang="en-US" sz="94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11201400" cy="0"/>
          </a:xfrm>
          <a:prstGeom prst="line">
            <a:avLst/>
          </a:prstGeom>
          <a:noFill/>
          <a:ln w="12700">
            <a:solidFill>
              <a:srgbClr val="D7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74520"/>
            <a:ext cx="24231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8424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5B667A"/>
                </a:solidFill>
              </a:rPr>
              <a:t>Question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822960" y="222199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15A"/>
                </a:solidFill>
              </a:rPr>
              <a:t>What are we predicting?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64261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B667A"/>
                </a:solidFill>
              </a:rPr>
              <a:t>Future vulnerability, not past diagnosis</a:t>
            </a:r>
            <a:endParaRPr lang="en-US" sz="670" dirty="0"/>
          </a:p>
        </p:txBody>
      </p:sp>
      <p:sp>
        <p:nvSpPr>
          <p:cNvPr id="10" name="Shape 8"/>
          <p:cNvSpPr/>
          <p:nvPr/>
        </p:nvSpPr>
        <p:spPr>
          <a:xfrm>
            <a:off x="3520440" y="1874520"/>
            <a:ext cx="24231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98424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5B667A"/>
                </a:solidFill>
              </a:rPr>
              <a:t>Design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3657600" y="222199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57A57"/>
                </a:solidFill>
              </a:rPr>
              <a:t>How is time handled?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0" y="264261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B667A"/>
                </a:solidFill>
              </a:rPr>
              <a:t>13m observation + 3m future label</a:t>
            </a:r>
            <a:endParaRPr lang="en-US" sz="670" dirty="0"/>
          </a:p>
        </p:txBody>
      </p:sp>
      <p:sp>
        <p:nvSpPr>
          <p:cNvPr id="14" name="Shape 12"/>
          <p:cNvSpPr/>
          <p:nvPr/>
        </p:nvSpPr>
        <p:spPr>
          <a:xfrm>
            <a:off x="6355080" y="1874520"/>
            <a:ext cx="24231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98424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5B667A"/>
                </a:solidFill>
              </a:rPr>
              <a:t>Evidence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6492240" y="222199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768B0"/>
                </a:solidFill>
              </a:rPr>
              <a:t>What data supports it?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264261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B667A"/>
                </a:solidFill>
              </a:rPr>
              <a:t>688,589 rows and split-level cases/controls</a:t>
            </a:r>
            <a:endParaRPr lang="en-US" sz="670" dirty="0"/>
          </a:p>
        </p:txBody>
      </p:sp>
      <p:sp>
        <p:nvSpPr>
          <p:cNvPr id="18" name="Shape 16"/>
          <p:cNvSpPr/>
          <p:nvPr/>
        </p:nvSpPr>
        <p:spPr>
          <a:xfrm>
            <a:off x="9189720" y="1874520"/>
            <a:ext cx="24231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0" y="198424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5B667A"/>
                </a:solidFill>
              </a:rPr>
              <a:t>Decision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9326880" y="222199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43A3A"/>
                </a:solidFill>
              </a:rPr>
              <a:t>What remains?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326880" y="264261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B667A"/>
                </a:solidFill>
              </a:rPr>
              <a:t>A vs B model selection and thresholding</a:t>
            </a:r>
            <a:endParaRPr lang="en-US" sz="670" dirty="0"/>
          </a:p>
        </p:txBody>
      </p:sp>
      <p:sp>
        <p:nvSpPr>
          <p:cNvPr id="22" name="Shape 20"/>
          <p:cNvSpPr/>
          <p:nvPr/>
        </p:nvSpPr>
        <p:spPr>
          <a:xfrm>
            <a:off x="914400" y="3520440"/>
            <a:ext cx="3189427" cy="283464"/>
          </a:xfrm>
          <a:prstGeom prst="rect">
            <a:avLst/>
          </a:prstGeom>
          <a:solidFill>
            <a:srgbClr val="EEF1F7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" y="3561588"/>
            <a:ext cx="306141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111827"/>
                </a:solidFill>
              </a:rPr>
              <a:t>Validated element</a:t>
            </a:r>
            <a:endParaRPr lang="en-US" sz="670" dirty="0"/>
          </a:p>
        </p:txBody>
      </p:sp>
      <p:sp>
        <p:nvSpPr>
          <p:cNvPr id="24" name="Shape 22"/>
          <p:cNvSpPr/>
          <p:nvPr/>
        </p:nvSpPr>
        <p:spPr>
          <a:xfrm>
            <a:off x="4103827" y="3520440"/>
            <a:ext cx="6777533" cy="283464"/>
          </a:xfrm>
          <a:prstGeom prst="rect">
            <a:avLst/>
          </a:prstGeom>
          <a:solidFill>
            <a:srgbClr val="EEF1F7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67835" y="3561588"/>
            <a:ext cx="66495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111827"/>
                </a:solidFill>
              </a:rPr>
              <a:t>Numeric evidence currently available</a:t>
            </a:r>
            <a:endParaRPr lang="en-US" sz="670" dirty="0"/>
          </a:p>
        </p:txBody>
      </p:sp>
      <p:sp>
        <p:nvSpPr>
          <p:cNvPr id="26" name="Shape 24"/>
          <p:cNvSpPr/>
          <p:nvPr/>
        </p:nvSpPr>
        <p:spPr>
          <a:xfrm>
            <a:off x="914400" y="3803904"/>
            <a:ext cx="3189427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8408" y="3845052"/>
            <a:ext cx="306141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Cohort size</a:t>
            </a:r>
            <a:endParaRPr lang="en-US" sz="645" dirty="0"/>
          </a:p>
        </p:txBody>
      </p:sp>
      <p:sp>
        <p:nvSpPr>
          <p:cNvPr id="28" name="Shape 26"/>
          <p:cNvSpPr/>
          <p:nvPr/>
        </p:nvSpPr>
        <p:spPr>
          <a:xfrm>
            <a:off x="4103827" y="3803904"/>
            <a:ext cx="6777533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67835" y="3845052"/>
            <a:ext cx="66495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688,589 parties; 62,599 cases; 625,990 controls</a:t>
            </a:r>
            <a:endParaRPr lang="en-US" sz="645" dirty="0"/>
          </a:p>
        </p:txBody>
      </p:sp>
      <p:sp>
        <p:nvSpPr>
          <p:cNvPr id="30" name="Shape 28"/>
          <p:cNvSpPr/>
          <p:nvPr/>
        </p:nvSpPr>
        <p:spPr>
          <a:xfrm>
            <a:off x="914400" y="4087368"/>
            <a:ext cx="3189427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8408" y="4128516"/>
            <a:ext cx="306141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Splits</a:t>
            </a:r>
            <a:endParaRPr lang="en-US" sz="645" dirty="0"/>
          </a:p>
        </p:txBody>
      </p:sp>
      <p:sp>
        <p:nvSpPr>
          <p:cNvPr id="32" name="Shape 30"/>
          <p:cNvSpPr/>
          <p:nvPr/>
        </p:nvSpPr>
        <p:spPr>
          <a:xfrm>
            <a:off x="4103827" y="4087368"/>
            <a:ext cx="6777533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67835" y="4128516"/>
            <a:ext cx="66495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TRAIN 297,363 | VALIDATION 259,127 | TEST 132,099</a:t>
            </a:r>
            <a:endParaRPr lang="en-US" sz="645" dirty="0"/>
          </a:p>
        </p:txBody>
      </p:sp>
      <p:sp>
        <p:nvSpPr>
          <p:cNvPr id="34" name="Shape 32"/>
          <p:cNvSpPr/>
          <p:nvPr/>
        </p:nvSpPr>
        <p:spPr>
          <a:xfrm>
            <a:off x="914400" y="4370832"/>
            <a:ext cx="3189427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8408" y="4411980"/>
            <a:ext cx="306141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Validation benchmark</a:t>
            </a:r>
            <a:endParaRPr lang="en-US" sz="645" dirty="0"/>
          </a:p>
        </p:txBody>
      </p:sp>
      <p:sp>
        <p:nvSpPr>
          <p:cNvPr id="36" name="Shape 34"/>
          <p:cNvSpPr/>
          <p:nvPr/>
        </p:nvSpPr>
        <p:spPr>
          <a:xfrm>
            <a:off x="4103827" y="4370832"/>
            <a:ext cx="6777533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67835" y="4411980"/>
            <a:ext cx="66495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Model A / regParam 0.01: AUPRC 0.1365, AUROC 0.6671</a:t>
            </a:r>
            <a:endParaRPr lang="en-US" sz="645" dirty="0"/>
          </a:p>
        </p:txBody>
      </p:sp>
      <p:sp>
        <p:nvSpPr>
          <p:cNvPr id="38" name="Shape 36"/>
          <p:cNvSpPr/>
          <p:nvPr/>
        </p:nvSpPr>
        <p:spPr>
          <a:xfrm>
            <a:off x="914400" y="4654296"/>
            <a:ext cx="3189427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8408" y="4695444"/>
            <a:ext cx="306141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Ranking concentration</a:t>
            </a:r>
            <a:endParaRPr lang="en-US" sz="645" dirty="0"/>
          </a:p>
        </p:txBody>
      </p:sp>
      <p:sp>
        <p:nvSpPr>
          <p:cNvPr id="40" name="Shape 38"/>
          <p:cNvSpPr/>
          <p:nvPr/>
        </p:nvSpPr>
        <p:spPr>
          <a:xfrm>
            <a:off x="4103827" y="4654296"/>
            <a:ext cx="6777533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67835" y="4695444"/>
            <a:ext cx="66495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Lift@1% 1.524, Lift@5% 1.576, Lift@10% 1.596</a:t>
            </a:r>
            <a:endParaRPr lang="en-US" sz="645" dirty="0"/>
          </a:p>
        </p:txBody>
      </p:sp>
      <p:sp>
        <p:nvSpPr>
          <p:cNvPr id="42" name="Shape 40"/>
          <p:cNvSpPr/>
          <p:nvPr/>
        </p:nvSpPr>
        <p:spPr>
          <a:xfrm>
            <a:off x="914400" y="5257800"/>
            <a:ext cx="9966960" cy="594360"/>
          </a:xfrm>
          <a:prstGeom prst="roundRect">
            <a:avLst>
              <a:gd name="adj" fmla="val 15385"/>
            </a:avLst>
          </a:prstGeom>
          <a:solidFill>
            <a:srgbClr val="F5F7FB"/>
          </a:solidFill>
          <a:ln w="12700">
            <a:solidFill>
              <a:srgbClr val="B777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60704" y="5349240"/>
            <a:ext cx="9674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B7772B"/>
                </a:solidFill>
              </a:rPr>
              <a:t>DESIGN PRINCIPLE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>
            <a:off x="1060704" y="5568696"/>
            <a:ext cx="9674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Avoid repeating the time window throughout the deck. Explain it once, then use the remaining slides to show what that design enables.</a:t>
            </a:r>
            <a:endParaRPr lang="en-US" sz="740" dirty="0"/>
          </a:p>
        </p:txBody>
      </p:sp>
      <p:sp>
        <p:nvSpPr>
          <p:cNvPr id="45" name="Text 43"/>
          <p:cNvSpPr/>
          <p:nvPr/>
        </p:nvSpPr>
        <p:spPr>
          <a:xfrm>
            <a:off x="502920" y="6556248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92A6"/>
                </a:solidFill>
              </a:rPr>
              <a:t>Validated project development only — no example-deck metrics reused</a:t>
            </a:r>
            <a:endParaRPr lang="en-US" sz="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5B667A"/>
                </a:solidFill>
              </a:rPr>
              <a:t>FRAUD ALERT VULNERABILITY | 02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we trying to predict?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21208" y="108813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B667A"/>
                </a:solidFill>
              </a:rPr>
              <a:t>The label is prospective: the model ranks parties before the confirmed future event window.</a:t>
            </a:r>
            <a:endParaRPr lang="en-US" sz="94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11201400" cy="0"/>
          </a:xfrm>
          <a:prstGeom prst="line">
            <a:avLst/>
          </a:prstGeom>
          <a:noFill/>
          <a:ln w="12700">
            <a:solidFill>
              <a:srgbClr val="D7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74520"/>
            <a:ext cx="4754880" cy="1051560"/>
          </a:xfrm>
          <a:prstGeom prst="roundRect">
            <a:avLst>
              <a:gd name="adj" fmla="val 8696"/>
            </a:avLst>
          </a:prstGeom>
          <a:solidFill>
            <a:srgbClr val="F5F7FB"/>
          </a:solidFill>
          <a:ln w="12700">
            <a:solidFill>
              <a:srgbClr val="1731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965960"/>
            <a:ext cx="44622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17315A"/>
                </a:solidFill>
              </a:rPr>
              <a:t>OBJECTIVE</a:t>
            </a:r>
            <a:endParaRPr lang="en-US" sz="580" dirty="0"/>
          </a:p>
        </p:txBody>
      </p:sp>
      <p:sp>
        <p:nvSpPr>
          <p:cNvPr id="8" name="Text 6"/>
          <p:cNvSpPr/>
          <p:nvPr/>
        </p:nvSpPr>
        <p:spPr>
          <a:xfrm>
            <a:off x="877824" y="2185416"/>
            <a:ext cx="44622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Identify parties with elevated fraud-vulnerability risk before a confirmed event, so the model can support earlier review and prioritization.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4754880" cy="11430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A4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3337560"/>
            <a:ext cx="44622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A43A3A"/>
                </a:solidFill>
              </a:rPr>
              <a:t>OUTCOME DEFINITION</a:t>
            </a:r>
            <a:endParaRPr lang="en-US" sz="580" dirty="0"/>
          </a:p>
        </p:txBody>
      </p:sp>
      <p:sp>
        <p:nvSpPr>
          <p:cNvPr id="11" name="Text 9"/>
          <p:cNvSpPr/>
          <p:nvPr/>
        </p:nvSpPr>
        <p:spPr>
          <a:xfrm>
            <a:off x="877824" y="3557016"/>
            <a:ext cx="446227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Label = 1 when the party has a confirmed fraud/victimization event in the next 3 months after the observation window; label = 0 otherwise in the control sample.</a:t>
            </a:r>
            <a:endParaRPr lang="en-US" sz="740" dirty="0"/>
          </a:p>
        </p:txBody>
      </p:sp>
      <p:sp>
        <p:nvSpPr>
          <p:cNvPr id="12" name="Text 10"/>
          <p:cNvSpPr/>
          <p:nvPr/>
        </p:nvSpPr>
        <p:spPr>
          <a:xfrm>
            <a:off x="6172200" y="19019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11827"/>
                </a:solidFill>
              </a:rPr>
              <a:t>Past information only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9281160" y="19019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11827"/>
                </a:solidFill>
              </a:rPr>
              <a:t>Future label only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6172200" y="2514600"/>
            <a:ext cx="4572000" cy="0"/>
          </a:xfrm>
          <a:prstGeom prst="line">
            <a:avLst/>
          </a:prstGeom>
          <a:noFill/>
          <a:ln w="12700">
            <a:solidFill>
              <a:srgbClr val="D7DCE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172200" y="2816352"/>
            <a:ext cx="7315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8776" y="2962656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D7DCE5"/>
                </a:solidFill>
              </a:rPr>
              <a:t>SEED</a:t>
            </a:r>
            <a:endParaRPr lang="en-US" sz="590" dirty="0"/>
          </a:p>
        </p:txBody>
      </p:sp>
      <p:sp>
        <p:nvSpPr>
          <p:cNvPr id="17" name="Text 15"/>
          <p:cNvSpPr/>
          <p:nvPr/>
        </p:nvSpPr>
        <p:spPr>
          <a:xfrm>
            <a:off x="6208776" y="3200400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5B667A"/>
                </a:solidFill>
              </a:rPr>
              <a:t>1m</a:t>
            </a:r>
            <a:endParaRPr lang="en-US" sz="620" dirty="0"/>
          </a:p>
        </p:txBody>
      </p:sp>
      <p:sp>
        <p:nvSpPr>
          <p:cNvPr id="18" name="Shape 16"/>
          <p:cNvSpPr/>
          <p:nvPr/>
        </p:nvSpPr>
        <p:spPr>
          <a:xfrm>
            <a:off x="7022592" y="2816352"/>
            <a:ext cx="17373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3768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59168" y="2962656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3768B0"/>
                </a:solidFill>
              </a:rPr>
              <a:t>PRIOR</a:t>
            </a:r>
            <a:endParaRPr lang="en-US" sz="590" dirty="0"/>
          </a:p>
        </p:txBody>
      </p:sp>
      <p:sp>
        <p:nvSpPr>
          <p:cNvPr id="20" name="Text 18"/>
          <p:cNvSpPr/>
          <p:nvPr/>
        </p:nvSpPr>
        <p:spPr>
          <a:xfrm>
            <a:off x="7059168" y="3200400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5B667A"/>
                </a:solidFill>
              </a:rPr>
              <a:t>9m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8878824" y="2816352"/>
            <a:ext cx="9601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257A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15400" y="2962656"/>
            <a:ext cx="886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257A57"/>
                </a:solidFill>
              </a:rPr>
              <a:t>RECENT</a:t>
            </a:r>
            <a:endParaRPr lang="en-US" sz="590" dirty="0"/>
          </a:p>
        </p:txBody>
      </p:sp>
      <p:sp>
        <p:nvSpPr>
          <p:cNvPr id="23" name="Text 21"/>
          <p:cNvSpPr/>
          <p:nvPr/>
        </p:nvSpPr>
        <p:spPr>
          <a:xfrm>
            <a:off x="8915400" y="3200400"/>
            <a:ext cx="886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5B667A"/>
                </a:solidFill>
              </a:rPr>
              <a:t>3m</a:t>
            </a:r>
            <a:endParaRPr lang="en-US" sz="620" dirty="0"/>
          </a:p>
        </p:txBody>
      </p:sp>
      <p:sp>
        <p:nvSpPr>
          <p:cNvPr id="24" name="Shape 22"/>
          <p:cNvSpPr/>
          <p:nvPr/>
        </p:nvSpPr>
        <p:spPr>
          <a:xfrm>
            <a:off x="9957816" y="2816352"/>
            <a:ext cx="10515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A43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94392" y="2962656"/>
            <a:ext cx="9784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A43A3A"/>
                </a:solidFill>
              </a:rPr>
              <a:t>OUTCOME</a:t>
            </a:r>
            <a:endParaRPr lang="en-US" sz="590" dirty="0"/>
          </a:p>
        </p:txBody>
      </p:sp>
      <p:sp>
        <p:nvSpPr>
          <p:cNvPr id="26" name="Text 24"/>
          <p:cNvSpPr/>
          <p:nvPr/>
        </p:nvSpPr>
        <p:spPr>
          <a:xfrm>
            <a:off x="9994392" y="3200400"/>
            <a:ext cx="9784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5B667A"/>
                </a:solidFill>
              </a:rPr>
              <a:t>3m</a:t>
            </a:r>
            <a:endParaRPr lang="en-US" sz="620" dirty="0"/>
          </a:p>
        </p:txBody>
      </p:sp>
      <p:sp>
        <p:nvSpPr>
          <p:cNvPr id="27" name="Shape 25"/>
          <p:cNvSpPr/>
          <p:nvPr/>
        </p:nvSpPr>
        <p:spPr>
          <a:xfrm>
            <a:off x="6172200" y="4005072"/>
            <a:ext cx="1506931" cy="285750"/>
          </a:xfrm>
          <a:prstGeom prst="rect">
            <a:avLst/>
          </a:prstGeom>
          <a:solidFill>
            <a:srgbClr val="EEF1F7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4046220"/>
            <a:ext cx="1378915" cy="2034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111827"/>
                </a:solidFill>
              </a:rPr>
              <a:t>Window</a:t>
            </a:r>
            <a:endParaRPr lang="en-US" sz="670" dirty="0"/>
          </a:p>
        </p:txBody>
      </p:sp>
      <p:sp>
        <p:nvSpPr>
          <p:cNvPr id="29" name="Shape 27"/>
          <p:cNvSpPr/>
          <p:nvPr/>
        </p:nvSpPr>
        <p:spPr>
          <a:xfrm>
            <a:off x="7679131" y="4005072"/>
            <a:ext cx="3202229" cy="285750"/>
          </a:xfrm>
          <a:prstGeom prst="rect">
            <a:avLst/>
          </a:prstGeom>
          <a:solidFill>
            <a:srgbClr val="EEF1F7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43139" y="4046220"/>
            <a:ext cx="3074213" cy="2034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111827"/>
                </a:solidFill>
              </a:rPr>
              <a:t>Use</a:t>
            </a:r>
            <a:endParaRPr lang="en-US" sz="670" dirty="0"/>
          </a:p>
        </p:txBody>
      </p:sp>
      <p:sp>
        <p:nvSpPr>
          <p:cNvPr id="31" name="Shape 29"/>
          <p:cNvSpPr/>
          <p:nvPr/>
        </p:nvSpPr>
        <p:spPr>
          <a:xfrm>
            <a:off x="6172200" y="4290822"/>
            <a:ext cx="1506931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6208" y="4331970"/>
            <a:ext cx="1378915" cy="2034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Prior 9m</a:t>
            </a:r>
            <a:endParaRPr lang="en-US" sz="645" dirty="0"/>
          </a:p>
        </p:txBody>
      </p:sp>
      <p:sp>
        <p:nvSpPr>
          <p:cNvPr id="33" name="Shape 31"/>
          <p:cNvSpPr/>
          <p:nvPr/>
        </p:nvSpPr>
        <p:spPr>
          <a:xfrm>
            <a:off x="7679131" y="4290822"/>
            <a:ext cx="3202229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43139" y="4331970"/>
            <a:ext cx="3074213" cy="2034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baseline: normal behavior</a:t>
            </a:r>
            <a:endParaRPr lang="en-US" sz="645" dirty="0"/>
          </a:p>
        </p:txBody>
      </p:sp>
      <p:sp>
        <p:nvSpPr>
          <p:cNvPr id="35" name="Shape 33"/>
          <p:cNvSpPr/>
          <p:nvPr/>
        </p:nvSpPr>
        <p:spPr>
          <a:xfrm>
            <a:off x="6172200" y="4576572"/>
            <a:ext cx="1506931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36208" y="4617720"/>
            <a:ext cx="1378915" cy="2034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Recent 3m</a:t>
            </a:r>
            <a:endParaRPr lang="en-US" sz="645" dirty="0"/>
          </a:p>
        </p:txBody>
      </p:sp>
      <p:sp>
        <p:nvSpPr>
          <p:cNvPr id="37" name="Shape 35"/>
          <p:cNvSpPr/>
          <p:nvPr/>
        </p:nvSpPr>
        <p:spPr>
          <a:xfrm>
            <a:off x="7679131" y="4576572"/>
            <a:ext cx="3202229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43139" y="4617720"/>
            <a:ext cx="3074213" cy="2034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current state / change</a:t>
            </a:r>
            <a:endParaRPr lang="en-US" sz="645" dirty="0"/>
          </a:p>
        </p:txBody>
      </p:sp>
      <p:sp>
        <p:nvSpPr>
          <p:cNvPr id="39" name="Shape 37"/>
          <p:cNvSpPr/>
          <p:nvPr/>
        </p:nvSpPr>
        <p:spPr>
          <a:xfrm>
            <a:off x="6172200" y="4862322"/>
            <a:ext cx="1506931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36208" y="4903470"/>
            <a:ext cx="1378915" cy="2034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Future 3m</a:t>
            </a:r>
            <a:endParaRPr lang="en-US" sz="645" dirty="0"/>
          </a:p>
        </p:txBody>
      </p:sp>
      <p:sp>
        <p:nvSpPr>
          <p:cNvPr id="41" name="Shape 39"/>
          <p:cNvSpPr/>
          <p:nvPr/>
        </p:nvSpPr>
        <p:spPr>
          <a:xfrm>
            <a:off x="7679131" y="4862322"/>
            <a:ext cx="3202229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43139" y="4903470"/>
            <a:ext cx="3074213" cy="2034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outcome measurement only</a:t>
            </a:r>
            <a:endParaRPr lang="en-US" sz="645" dirty="0"/>
          </a:p>
        </p:txBody>
      </p:sp>
      <p:sp>
        <p:nvSpPr>
          <p:cNvPr id="43" name="Text 41"/>
          <p:cNvSpPr/>
          <p:nvPr/>
        </p:nvSpPr>
        <p:spPr>
          <a:xfrm>
            <a:off x="502920" y="6556248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92A6"/>
                </a:solidFill>
              </a:rPr>
              <a:t>Validated project development only — no example-deck metrics reused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5B667A"/>
                </a:solidFill>
              </a:rPr>
              <a:t>FRAUD ALERT VULNERABILITY | 03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Modeling population and split construction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21208" y="108813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B667A"/>
                </a:solidFill>
              </a:rPr>
              <a:t>The strongest numeric evidence in the project is the cohort and split structure.</a:t>
            </a:r>
            <a:endParaRPr lang="en-US" sz="94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11201400" cy="0"/>
          </a:xfrm>
          <a:prstGeom prst="line">
            <a:avLst/>
          </a:prstGeom>
          <a:noFill/>
          <a:ln w="12700">
            <a:solidFill>
              <a:srgbClr val="D7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28800"/>
            <a:ext cx="20116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3852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5B667A"/>
                </a:solidFill>
              </a:rPr>
              <a:t>Total parties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822960" y="217627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15A"/>
                </a:solidFill>
              </a:rPr>
              <a:t>688,589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59689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B667A"/>
                </a:solidFill>
              </a:rPr>
              <a:t>modeled sample</a:t>
            </a:r>
            <a:endParaRPr lang="en-US" sz="670" dirty="0"/>
          </a:p>
        </p:txBody>
      </p:sp>
      <p:sp>
        <p:nvSpPr>
          <p:cNvPr id="10" name="Shape 8"/>
          <p:cNvSpPr/>
          <p:nvPr/>
        </p:nvSpPr>
        <p:spPr>
          <a:xfrm>
            <a:off x="2926080" y="1828800"/>
            <a:ext cx="1920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19385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5B667A"/>
                </a:solidFill>
              </a:rPr>
              <a:t>Cases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3063240" y="21762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43A3A"/>
                </a:solidFill>
              </a:rPr>
              <a:t>62,599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63240" y="25968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B667A"/>
                </a:solidFill>
              </a:rPr>
              <a:t>9.1%</a:t>
            </a:r>
            <a:endParaRPr lang="en-US" sz="670" dirty="0"/>
          </a:p>
        </p:txBody>
      </p:sp>
      <p:sp>
        <p:nvSpPr>
          <p:cNvPr id="14" name="Shape 12"/>
          <p:cNvSpPr/>
          <p:nvPr/>
        </p:nvSpPr>
        <p:spPr>
          <a:xfrm>
            <a:off x="5074920" y="1828800"/>
            <a:ext cx="20574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193852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5B667A"/>
                </a:solidFill>
              </a:rPr>
              <a:t>Controls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5212080" y="217627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768B0"/>
                </a:solidFill>
              </a:rPr>
              <a:t>625,990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12080" y="259689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B667A"/>
                </a:solidFill>
              </a:rPr>
              <a:t>90.9%</a:t>
            </a:r>
            <a:endParaRPr lang="en-US" sz="670" dirty="0"/>
          </a:p>
        </p:txBody>
      </p:sp>
      <p:sp>
        <p:nvSpPr>
          <p:cNvPr id="18" name="Shape 16"/>
          <p:cNvSpPr/>
          <p:nvPr/>
        </p:nvSpPr>
        <p:spPr>
          <a:xfrm>
            <a:off x="7360920" y="1828800"/>
            <a:ext cx="21031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0" y="19385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5B667A"/>
                </a:solidFill>
              </a:rPr>
              <a:t>Ratio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7498080" y="2176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B7772B"/>
                </a:solidFill>
              </a:rPr>
              <a:t>1:10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498080" y="25968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B667A"/>
                </a:solidFill>
              </a:rPr>
              <a:t>case:control</a:t>
            </a:r>
            <a:endParaRPr lang="en-US" sz="670" dirty="0"/>
          </a:p>
        </p:txBody>
      </p:sp>
      <p:sp>
        <p:nvSpPr>
          <p:cNvPr id="22" name="Shape 20"/>
          <p:cNvSpPr/>
          <p:nvPr/>
        </p:nvSpPr>
        <p:spPr>
          <a:xfrm>
            <a:off x="777240" y="3291840"/>
            <a:ext cx="1219810" cy="354330"/>
          </a:xfrm>
          <a:prstGeom prst="rect">
            <a:avLst/>
          </a:prstGeom>
          <a:solidFill>
            <a:srgbClr val="EEF1F7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3332988"/>
            <a:ext cx="109179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111827"/>
                </a:solidFill>
              </a:rPr>
              <a:t>Split</a:t>
            </a:r>
            <a:endParaRPr lang="en-US" sz="670" dirty="0"/>
          </a:p>
        </p:txBody>
      </p:sp>
      <p:sp>
        <p:nvSpPr>
          <p:cNvPr id="24" name="Shape 22"/>
          <p:cNvSpPr/>
          <p:nvPr/>
        </p:nvSpPr>
        <p:spPr>
          <a:xfrm>
            <a:off x="1997050" y="3291840"/>
            <a:ext cx="954634" cy="354330"/>
          </a:xfrm>
          <a:prstGeom prst="rect">
            <a:avLst/>
          </a:prstGeom>
          <a:solidFill>
            <a:srgbClr val="EEF1F7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61058" y="3332988"/>
            <a:ext cx="82661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111827"/>
                </a:solidFill>
              </a:rPr>
              <a:t>Cases</a:t>
            </a:r>
            <a:endParaRPr lang="en-US" sz="670" dirty="0"/>
          </a:p>
        </p:txBody>
      </p:sp>
      <p:sp>
        <p:nvSpPr>
          <p:cNvPr id="26" name="Shape 24"/>
          <p:cNvSpPr/>
          <p:nvPr/>
        </p:nvSpPr>
        <p:spPr>
          <a:xfrm>
            <a:off x="2951683" y="3291840"/>
            <a:ext cx="1113739" cy="354330"/>
          </a:xfrm>
          <a:prstGeom prst="rect">
            <a:avLst/>
          </a:prstGeom>
          <a:solidFill>
            <a:srgbClr val="EEF1F7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5691" y="3332988"/>
            <a:ext cx="985723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111827"/>
                </a:solidFill>
              </a:rPr>
              <a:t>Controls</a:t>
            </a:r>
            <a:endParaRPr lang="en-US" sz="670" dirty="0"/>
          </a:p>
        </p:txBody>
      </p:sp>
      <p:sp>
        <p:nvSpPr>
          <p:cNvPr id="28" name="Shape 26"/>
          <p:cNvSpPr/>
          <p:nvPr/>
        </p:nvSpPr>
        <p:spPr>
          <a:xfrm>
            <a:off x="4065422" y="3291840"/>
            <a:ext cx="1113739" cy="354330"/>
          </a:xfrm>
          <a:prstGeom prst="rect">
            <a:avLst/>
          </a:prstGeom>
          <a:solidFill>
            <a:srgbClr val="EEF1F7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29430" y="3332988"/>
            <a:ext cx="985723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111827"/>
                </a:solidFill>
              </a:rPr>
              <a:t>Total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5179162" y="3291840"/>
            <a:ext cx="901598" cy="354330"/>
          </a:xfrm>
          <a:prstGeom prst="rect">
            <a:avLst/>
          </a:prstGeom>
          <a:solidFill>
            <a:srgbClr val="EEF1F7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43170" y="3332988"/>
            <a:ext cx="773582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111827"/>
                </a:solidFill>
              </a:rPr>
              <a:t>Share</a:t>
            </a:r>
            <a:endParaRPr lang="en-US" sz="670" dirty="0"/>
          </a:p>
        </p:txBody>
      </p:sp>
      <p:sp>
        <p:nvSpPr>
          <p:cNvPr id="32" name="Shape 30"/>
          <p:cNvSpPr/>
          <p:nvPr/>
        </p:nvSpPr>
        <p:spPr>
          <a:xfrm>
            <a:off x="777240" y="3646170"/>
            <a:ext cx="1219810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" y="3687318"/>
            <a:ext cx="109179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TRAIN</a:t>
            </a:r>
            <a:endParaRPr lang="en-US" sz="645" dirty="0"/>
          </a:p>
        </p:txBody>
      </p:sp>
      <p:sp>
        <p:nvSpPr>
          <p:cNvPr id="34" name="Shape 32"/>
          <p:cNvSpPr/>
          <p:nvPr/>
        </p:nvSpPr>
        <p:spPr>
          <a:xfrm>
            <a:off x="1997050" y="3646170"/>
            <a:ext cx="954634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61058" y="3687318"/>
            <a:ext cx="82661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27,033</a:t>
            </a:r>
            <a:endParaRPr lang="en-US" sz="645" dirty="0"/>
          </a:p>
        </p:txBody>
      </p:sp>
      <p:sp>
        <p:nvSpPr>
          <p:cNvPr id="36" name="Shape 34"/>
          <p:cNvSpPr/>
          <p:nvPr/>
        </p:nvSpPr>
        <p:spPr>
          <a:xfrm>
            <a:off x="2951683" y="3646170"/>
            <a:ext cx="1113739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5691" y="3687318"/>
            <a:ext cx="985723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270,330</a:t>
            </a:r>
            <a:endParaRPr lang="en-US" sz="645" dirty="0"/>
          </a:p>
        </p:txBody>
      </p:sp>
      <p:sp>
        <p:nvSpPr>
          <p:cNvPr id="38" name="Shape 36"/>
          <p:cNvSpPr/>
          <p:nvPr/>
        </p:nvSpPr>
        <p:spPr>
          <a:xfrm>
            <a:off x="4065422" y="3646170"/>
            <a:ext cx="1113739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29430" y="3687318"/>
            <a:ext cx="985723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297,363</a:t>
            </a:r>
            <a:endParaRPr lang="en-US" sz="645" dirty="0"/>
          </a:p>
        </p:txBody>
      </p:sp>
      <p:sp>
        <p:nvSpPr>
          <p:cNvPr id="40" name="Shape 38"/>
          <p:cNvSpPr/>
          <p:nvPr/>
        </p:nvSpPr>
        <p:spPr>
          <a:xfrm>
            <a:off x="5179162" y="3646170"/>
            <a:ext cx="901598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43170" y="3687318"/>
            <a:ext cx="773582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43.2%</a:t>
            </a:r>
            <a:endParaRPr lang="en-US" sz="645" dirty="0"/>
          </a:p>
        </p:txBody>
      </p:sp>
      <p:sp>
        <p:nvSpPr>
          <p:cNvPr id="42" name="Shape 40"/>
          <p:cNvSpPr/>
          <p:nvPr/>
        </p:nvSpPr>
        <p:spPr>
          <a:xfrm>
            <a:off x="777240" y="4000500"/>
            <a:ext cx="1219810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1248" y="4041648"/>
            <a:ext cx="109179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VALIDATION</a:t>
            </a:r>
            <a:endParaRPr lang="en-US" sz="645" dirty="0"/>
          </a:p>
        </p:txBody>
      </p:sp>
      <p:sp>
        <p:nvSpPr>
          <p:cNvPr id="44" name="Shape 42"/>
          <p:cNvSpPr/>
          <p:nvPr/>
        </p:nvSpPr>
        <p:spPr>
          <a:xfrm>
            <a:off x="1997050" y="4000500"/>
            <a:ext cx="954634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61058" y="4041648"/>
            <a:ext cx="82661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23,557</a:t>
            </a:r>
            <a:endParaRPr lang="en-US" sz="645" dirty="0"/>
          </a:p>
        </p:txBody>
      </p:sp>
      <p:sp>
        <p:nvSpPr>
          <p:cNvPr id="46" name="Shape 44"/>
          <p:cNvSpPr/>
          <p:nvPr/>
        </p:nvSpPr>
        <p:spPr>
          <a:xfrm>
            <a:off x="2951683" y="4000500"/>
            <a:ext cx="1113739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5691" y="4041648"/>
            <a:ext cx="985723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235,570</a:t>
            </a:r>
            <a:endParaRPr lang="en-US" sz="645" dirty="0"/>
          </a:p>
        </p:txBody>
      </p:sp>
      <p:sp>
        <p:nvSpPr>
          <p:cNvPr id="48" name="Shape 46"/>
          <p:cNvSpPr/>
          <p:nvPr/>
        </p:nvSpPr>
        <p:spPr>
          <a:xfrm>
            <a:off x="4065422" y="4000500"/>
            <a:ext cx="1113739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29430" y="4041648"/>
            <a:ext cx="985723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259,127</a:t>
            </a:r>
            <a:endParaRPr lang="en-US" sz="645" dirty="0"/>
          </a:p>
        </p:txBody>
      </p:sp>
      <p:sp>
        <p:nvSpPr>
          <p:cNvPr id="50" name="Shape 48"/>
          <p:cNvSpPr/>
          <p:nvPr/>
        </p:nvSpPr>
        <p:spPr>
          <a:xfrm>
            <a:off x="5179162" y="4000500"/>
            <a:ext cx="901598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43170" y="4041648"/>
            <a:ext cx="773582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37.6%</a:t>
            </a:r>
            <a:endParaRPr lang="en-US" sz="645" dirty="0"/>
          </a:p>
        </p:txBody>
      </p:sp>
      <p:sp>
        <p:nvSpPr>
          <p:cNvPr id="52" name="Shape 50"/>
          <p:cNvSpPr/>
          <p:nvPr/>
        </p:nvSpPr>
        <p:spPr>
          <a:xfrm>
            <a:off x="777240" y="4354830"/>
            <a:ext cx="1219810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41248" y="4395978"/>
            <a:ext cx="1091794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TEST</a:t>
            </a:r>
            <a:endParaRPr lang="en-US" sz="645" dirty="0"/>
          </a:p>
        </p:txBody>
      </p:sp>
      <p:sp>
        <p:nvSpPr>
          <p:cNvPr id="54" name="Shape 52"/>
          <p:cNvSpPr/>
          <p:nvPr/>
        </p:nvSpPr>
        <p:spPr>
          <a:xfrm>
            <a:off x="1997050" y="4354830"/>
            <a:ext cx="954634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061058" y="4395978"/>
            <a:ext cx="826618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12,009</a:t>
            </a:r>
            <a:endParaRPr lang="en-US" sz="645" dirty="0"/>
          </a:p>
        </p:txBody>
      </p:sp>
      <p:sp>
        <p:nvSpPr>
          <p:cNvPr id="56" name="Shape 54"/>
          <p:cNvSpPr/>
          <p:nvPr/>
        </p:nvSpPr>
        <p:spPr>
          <a:xfrm>
            <a:off x="2951683" y="4354830"/>
            <a:ext cx="1113739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15691" y="4395978"/>
            <a:ext cx="985723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120,090</a:t>
            </a:r>
            <a:endParaRPr lang="en-US" sz="645" dirty="0"/>
          </a:p>
        </p:txBody>
      </p:sp>
      <p:sp>
        <p:nvSpPr>
          <p:cNvPr id="58" name="Shape 56"/>
          <p:cNvSpPr/>
          <p:nvPr/>
        </p:nvSpPr>
        <p:spPr>
          <a:xfrm>
            <a:off x="4065422" y="4354830"/>
            <a:ext cx="1113739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29430" y="4395978"/>
            <a:ext cx="985723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132,099</a:t>
            </a:r>
            <a:endParaRPr lang="en-US" sz="645" dirty="0"/>
          </a:p>
        </p:txBody>
      </p:sp>
      <p:sp>
        <p:nvSpPr>
          <p:cNvPr id="60" name="Shape 58"/>
          <p:cNvSpPr/>
          <p:nvPr/>
        </p:nvSpPr>
        <p:spPr>
          <a:xfrm>
            <a:off x="5179162" y="4354830"/>
            <a:ext cx="901598" cy="35433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243170" y="4395978"/>
            <a:ext cx="773582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19.2%</a:t>
            </a:r>
            <a:endParaRPr lang="en-US" sz="645" dirty="0"/>
          </a:p>
        </p:txBody>
      </p:sp>
      <p:sp>
        <p:nvSpPr>
          <p:cNvPr id="62" name="Text 60"/>
          <p:cNvSpPr/>
          <p:nvPr/>
        </p:nvSpPr>
        <p:spPr>
          <a:xfrm>
            <a:off x="6537960" y="32735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Split size comparison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492240" y="37124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5B667A"/>
                </a:solidFill>
              </a:rPr>
              <a:t>TRAIN</a:t>
            </a:r>
            <a:endParaRPr lang="en-US" sz="640" dirty="0"/>
          </a:p>
        </p:txBody>
      </p:sp>
      <p:sp>
        <p:nvSpPr>
          <p:cNvPr id="64" name="Shape 62"/>
          <p:cNvSpPr/>
          <p:nvPr/>
        </p:nvSpPr>
        <p:spPr>
          <a:xfrm>
            <a:off x="7909560" y="3721608"/>
            <a:ext cx="2834640" cy="118872"/>
          </a:xfrm>
          <a:prstGeom prst="rect">
            <a:avLst/>
          </a:prstGeom>
          <a:solidFill>
            <a:srgbClr val="E7EAF1"/>
          </a:solidFill>
          <a:ln w="12700">
            <a:solidFill>
              <a:srgbClr val="E7EAF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909560" y="3721608"/>
            <a:ext cx="2834640" cy="118872"/>
          </a:xfrm>
          <a:prstGeom prst="rect">
            <a:avLst/>
          </a:prstGeom>
          <a:solidFill>
            <a:srgbClr val="17315A"/>
          </a:solidFill>
          <a:ln w="12700">
            <a:solidFill>
              <a:srgbClr val="17315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835640" y="368960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297,363</a:t>
            </a:r>
            <a:endParaRPr lang="en-US" sz="620" dirty="0"/>
          </a:p>
        </p:txBody>
      </p:sp>
      <p:sp>
        <p:nvSpPr>
          <p:cNvPr id="67" name="Text 65"/>
          <p:cNvSpPr/>
          <p:nvPr/>
        </p:nvSpPr>
        <p:spPr>
          <a:xfrm>
            <a:off x="6492240" y="412394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5B667A"/>
                </a:solidFill>
              </a:rPr>
              <a:t>VALID</a:t>
            </a:r>
            <a:endParaRPr lang="en-US" sz="640" dirty="0"/>
          </a:p>
        </p:txBody>
      </p:sp>
      <p:sp>
        <p:nvSpPr>
          <p:cNvPr id="68" name="Shape 66"/>
          <p:cNvSpPr/>
          <p:nvPr/>
        </p:nvSpPr>
        <p:spPr>
          <a:xfrm>
            <a:off x="7909560" y="4133088"/>
            <a:ext cx="2834640" cy="118872"/>
          </a:xfrm>
          <a:prstGeom prst="rect">
            <a:avLst/>
          </a:prstGeom>
          <a:solidFill>
            <a:srgbClr val="E7EAF1"/>
          </a:solidFill>
          <a:ln w="12700">
            <a:solidFill>
              <a:srgbClr val="E7EAF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909560" y="4133088"/>
            <a:ext cx="2470152" cy="118872"/>
          </a:xfrm>
          <a:prstGeom prst="rect">
            <a:avLst/>
          </a:prstGeom>
          <a:solidFill>
            <a:srgbClr val="3768B0"/>
          </a:solidFill>
          <a:ln w="12700">
            <a:solidFill>
              <a:srgbClr val="3768B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835640" y="410108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259,127</a:t>
            </a:r>
            <a:endParaRPr lang="en-US" sz="620" dirty="0"/>
          </a:p>
        </p:txBody>
      </p:sp>
      <p:sp>
        <p:nvSpPr>
          <p:cNvPr id="71" name="Text 69"/>
          <p:cNvSpPr/>
          <p:nvPr/>
        </p:nvSpPr>
        <p:spPr>
          <a:xfrm>
            <a:off x="6492240" y="453542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5B667A"/>
                </a:solidFill>
              </a:rPr>
              <a:t>TEST</a:t>
            </a:r>
            <a:endParaRPr lang="en-US" sz="640" dirty="0"/>
          </a:p>
        </p:txBody>
      </p:sp>
      <p:sp>
        <p:nvSpPr>
          <p:cNvPr id="72" name="Shape 70"/>
          <p:cNvSpPr/>
          <p:nvPr/>
        </p:nvSpPr>
        <p:spPr>
          <a:xfrm>
            <a:off x="7909560" y="4544568"/>
            <a:ext cx="2834640" cy="118872"/>
          </a:xfrm>
          <a:prstGeom prst="rect">
            <a:avLst/>
          </a:prstGeom>
          <a:solidFill>
            <a:srgbClr val="E7EAF1"/>
          </a:solidFill>
          <a:ln w="12700">
            <a:solidFill>
              <a:srgbClr val="E7EAF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909560" y="4544568"/>
            <a:ext cx="1259246" cy="118872"/>
          </a:xfrm>
          <a:prstGeom prst="rect">
            <a:avLst/>
          </a:prstGeom>
          <a:solidFill>
            <a:srgbClr val="257A57"/>
          </a:solidFill>
          <a:ln w="12700">
            <a:solidFill>
              <a:srgbClr val="257A5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835640" y="451256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132,099</a:t>
            </a:r>
            <a:endParaRPr lang="en-US" sz="620" dirty="0"/>
          </a:p>
        </p:txBody>
      </p:sp>
      <p:sp>
        <p:nvSpPr>
          <p:cNvPr id="75" name="Shape 73"/>
          <p:cNvSpPr/>
          <p:nvPr/>
        </p:nvSpPr>
        <p:spPr>
          <a:xfrm>
            <a:off x="777240" y="5257800"/>
            <a:ext cx="9829800" cy="594360"/>
          </a:xfrm>
          <a:prstGeom prst="roundRect">
            <a:avLst>
              <a:gd name="adj" fmla="val 15385"/>
            </a:avLst>
          </a:prstGeom>
          <a:solidFill>
            <a:srgbClr val="F5F7FB"/>
          </a:solidFill>
          <a:ln w="12700">
            <a:solidFill>
              <a:srgbClr val="B7772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23544" y="5349240"/>
            <a:ext cx="9537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B7772B"/>
                </a:solidFill>
              </a:rPr>
              <a:t>HOW TO READ THIS</a:t>
            </a:r>
            <a:endParaRPr lang="en-US" sz="580" dirty="0"/>
          </a:p>
        </p:txBody>
      </p:sp>
      <p:sp>
        <p:nvSpPr>
          <p:cNvPr id="77" name="Text 75"/>
          <p:cNvSpPr/>
          <p:nvPr/>
        </p:nvSpPr>
        <p:spPr>
          <a:xfrm>
            <a:off x="923544" y="5568696"/>
            <a:ext cx="9537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The project evaluates the same prospective label across train, validation, and test. The 1:10 structure should be described as the modeling sample design, not necessarily the raw portfolio base rate.</a:t>
            </a:r>
            <a:endParaRPr lang="en-US" sz="740" dirty="0"/>
          </a:p>
        </p:txBody>
      </p:sp>
      <p:sp>
        <p:nvSpPr>
          <p:cNvPr id="78" name="Text 76"/>
          <p:cNvSpPr/>
          <p:nvPr/>
        </p:nvSpPr>
        <p:spPr>
          <a:xfrm>
            <a:off x="502920" y="6556248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92A6"/>
                </a:solidFill>
              </a:rPr>
              <a:t>Validated project development only — no example-deck metrics reused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5B667A"/>
                </a:solidFill>
              </a:rPr>
              <a:t>FRAUD ALERT VULNERABILITY | 04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raw behavior to model-ready features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21208" y="108813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B667A"/>
                </a:solidFill>
              </a:rPr>
              <a:t>The deck should show how the temporal design is converted into learning signals.</a:t>
            </a:r>
            <a:endParaRPr lang="en-US" sz="94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11201400" cy="0"/>
          </a:xfrm>
          <a:prstGeom prst="line">
            <a:avLst/>
          </a:prstGeom>
          <a:noFill/>
          <a:ln w="12700">
            <a:solidFill>
              <a:srgbClr val="D7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03120"/>
            <a:ext cx="16916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2267712"/>
            <a:ext cx="1527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11827"/>
                </a:solidFill>
              </a:rPr>
              <a:t>Raw monthly behavior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813816" y="2542032"/>
            <a:ext cx="1527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5B667A"/>
                </a:solidFill>
              </a:rPr>
              <a:t>trades, transitions, alert-relevant activity</a:t>
            </a:r>
            <a:endParaRPr lang="en-US" sz="570" dirty="0"/>
          </a:p>
        </p:txBody>
      </p:sp>
      <p:sp>
        <p:nvSpPr>
          <p:cNvPr id="9" name="Shape 7"/>
          <p:cNvSpPr/>
          <p:nvPr/>
        </p:nvSpPr>
        <p:spPr>
          <a:xfrm>
            <a:off x="2450592" y="2514600"/>
            <a:ext cx="384048" cy="0"/>
          </a:xfrm>
          <a:prstGeom prst="line">
            <a:avLst/>
          </a:prstGeom>
          <a:noFill/>
          <a:ln w="12700">
            <a:solidFill>
              <a:srgbClr val="D7DCE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80360" y="2103120"/>
            <a:ext cx="16916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62656" y="2267712"/>
            <a:ext cx="1527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11827"/>
                </a:solidFill>
              </a:rPr>
              <a:t>Prior baseline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2962656" y="2542032"/>
            <a:ext cx="1527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5B667A"/>
                </a:solidFill>
              </a:rPr>
              <a:t>9-month party history</a:t>
            </a:r>
            <a:endParaRPr lang="en-US" sz="570" dirty="0"/>
          </a:p>
        </p:txBody>
      </p:sp>
      <p:sp>
        <p:nvSpPr>
          <p:cNvPr id="13" name="Shape 11"/>
          <p:cNvSpPr/>
          <p:nvPr/>
        </p:nvSpPr>
        <p:spPr>
          <a:xfrm>
            <a:off x="4599432" y="2514600"/>
            <a:ext cx="384048" cy="0"/>
          </a:xfrm>
          <a:prstGeom prst="line">
            <a:avLst/>
          </a:prstGeom>
          <a:noFill/>
          <a:ln w="12700">
            <a:solidFill>
              <a:srgbClr val="D7DCE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29200" y="2103120"/>
            <a:ext cx="16916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11496" y="2267712"/>
            <a:ext cx="1527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11827"/>
                </a:solidFill>
              </a:rPr>
              <a:t>Recent behavior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5111496" y="2542032"/>
            <a:ext cx="1527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5B667A"/>
                </a:solidFill>
              </a:rPr>
              <a:t>3-month current window</a:t>
            </a:r>
            <a:endParaRPr lang="en-US" sz="570" dirty="0"/>
          </a:p>
        </p:txBody>
      </p:sp>
      <p:sp>
        <p:nvSpPr>
          <p:cNvPr id="17" name="Shape 15"/>
          <p:cNvSpPr/>
          <p:nvPr/>
        </p:nvSpPr>
        <p:spPr>
          <a:xfrm>
            <a:off x="6748272" y="2514600"/>
            <a:ext cx="384048" cy="0"/>
          </a:xfrm>
          <a:prstGeom prst="line">
            <a:avLst/>
          </a:prstGeom>
          <a:noFill/>
          <a:ln w="12700">
            <a:solidFill>
              <a:srgbClr val="D7DCE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178040" y="2103120"/>
            <a:ext cx="16916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A43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0336" y="2267712"/>
            <a:ext cx="1527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11827"/>
                </a:solidFill>
              </a:rPr>
              <a:t>Engineered features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7260336" y="2542032"/>
            <a:ext cx="1527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5B667A"/>
                </a:solidFill>
              </a:rPr>
              <a:t>levels, changes, ratios, selected deviations</a:t>
            </a:r>
            <a:endParaRPr lang="en-US" sz="570" dirty="0"/>
          </a:p>
        </p:txBody>
      </p:sp>
      <p:sp>
        <p:nvSpPr>
          <p:cNvPr id="21" name="Shape 19"/>
          <p:cNvSpPr/>
          <p:nvPr/>
        </p:nvSpPr>
        <p:spPr>
          <a:xfrm>
            <a:off x="8897112" y="2514600"/>
            <a:ext cx="384048" cy="0"/>
          </a:xfrm>
          <a:prstGeom prst="line">
            <a:avLst/>
          </a:prstGeom>
          <a:noFill/>
          <a:ln w="12700">
            <a:solidFill>
              <a:srgbClr val="D7DCE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326880" y="2103120"/>
            <a:ext cx="16916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09176" y="2267712"/>
            <a:ext cx="1527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11827"/>
                </a:solidFill>
              </a:rPr>
              <a:t>Model input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9409176" y="2542032"/>
            <a:ext cx="1527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0" dirty="0">
                <a:solidFill>
                  <a:srgbClr val="5B667A"/>
                </a:solidFill>
              </a:rPr>
              <a:t>A or B feature vector</a:t>
            </a:r>
            <a:endParaRPr lang="en-US" sz="570" dirty="0"/>
          </a:p>
        </p:txBody>
      </p:sp>
      <p:sp>
        <p:nvSpPr>
          <p:cNvPr id="25" name="Shape 23"/>
          <p:cNvSpPr/>
          <p:nvPr/>
        </p:nvSpPr>
        <p:spPr>
          <a:xfrm>
            <a:off x="914400" y="3657600"/>
            <a:ext cx="1806854" cy="237744"/>
          </a:xfrm>
          <a:prstGeom prst="rect">
            <a:avLst/>
          </a:prstGeom>
          <a:solidFill>
            <a:srgbClr val="EEF1F7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08" y="3698748"/>
            <a:ext cx="167883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111827"/>
                </a:solidFill>
              </a:rPr>
              <a:t>Feature family</a:t>
            </a:r>
            <a:endParaRPr lang="en-US" sz="670" dirty="0"/>
          </a:p>
        </p:txBody>
      </p:sp>
      <p:sp>
        <p:nvSpPr>
          <p:cNvPr id="27" name="Shape 25"/>
          <p:cNvSpPr/>
          <p:nvPr/>
        </p:nvSpPr>
        <p:spPr>
          <a:xfrm>
            <a:off x="2721254" y="3657600"/>
            <a:ext cx="2948026" cy="237744"/>
          </a:xfrm>
          <a:prstGeom prst="rect">
            <a:avLst/>
          </a:prstGeom>
          <a:solidFill>
            <a:srgbClr val="EEF1F7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85262" y="3698748"/>
            <a:ext cx="282001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111827"/>
                </a:solidFill>
              </a:rPr>
              <a:t>Purpose</a:t>
            </a:r>
            <a:endParaRPr lang="en-US" sz="670" dirty="0"/>
          </a:p>
        </p:txBody>
      </p:sp>
      <p:sp>
        <p:nvSpPr>
          <p:cNvPr id="29" name="Shape 27"/>
          <p:cNvSpPr/>
          <p:nvPr/>
        </p:nvSpPr>
        <p:spPr>
          <a:xfrm>
            <a:off x="914400" y="3895344"/>
            <a:ext cx="180685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8408" y="3936492"/>
            <a:ext cx="167883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Recent/current</a:t>
            </a:r>
            <a:endParaRPr lang="en-US" sz="645" dirty="0"/>
          </a:p>
        </p:txBody>
      </p:sp>
      <p:sp>
        <p:nvSpPr>
          <p:cNvPr id="31" name="Shape 29"/>
          <p:cNvSpPr/>
          <p:nvPr/>
        </p:nvSpPr>
        <p:spPr>
          <a:xfrm>
            <a:off x="2721254" y="3895344"/>
            <a:ext cx="2948026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85262" y="3936492"/>
            <a:ext cx="282001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captures near-term state</a:t>
            </a:r>
            <a:endParaRPr lang="en-US" sz="645" dirty="0"/>
          </a:p>
        </p:txBody>
      </p:sp>
      <p:sp>
        <p:nvSpPr>
          <p:cNvPr id="33" name="Shape 31"/>
          <p:cNvSpPr/>
          <p:nvPr/>
        </p:nvSpPr>
        <p:spPr>
          <a:xfrm>
            <a:off x="914400" y="4133088"/>
            <a:ext cx="180685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8408" y="4174236"/>
            <a:ext cx="167883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Prior/baseline</a:t>
            </a:r>
            <a:endParaRPr lang="en-US" sz="645" dirty="0"/>
          </a:p>
        </p:txBody>
      </p:sp>
      <p:sp>
        <p:nvSpPr>
          <p:cNvPr id="35" name="Shape 33"/>
          <p:cNvSpPr/>
          <p:nvPr/>
        </p:nvSpPr>
        <p:spPr>
          <a:xfrm>
            <a:off x="2721254" y="4133088"/>
            <a:ext cx="2948026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85262" y="4174236"/>
            <a:ext cx="282001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captures normal party behavior</a:t>
            </a:r>
            <a:endParaRPr lang="en-US" sz="645" dirty="0"/>
          </a:p>
        </p:txBody>
      </p:sp>
      <p:sp>
        <p:nvSpPr>
          <p:cNvPr id="37" name="Shape 35"/>
          <p:cNvSpPr/>
          <p:nvPr/>
        </p:nvSpPr>
        <p:spPr>
          <a:xfrm>
            <a:off x="914400" y="4370832"/>
            <a:ext cx="180685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8408" y="4411980"/>
            <a:ext cx="167883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Recent - prior</a:t>
            </a:r>
            <a:endParaRPr lang="en-US" sz="645" dirty="0"/>
          </a:p>
        </p:txBody>
      </p:sp>
      <p:sp>
        <p:nvSpPr>
          <p:cNvPr id="39" name="Shape 37"/>
          <p:cNvSpPr/>
          <p:nvPr/>
        </p:nvSpPr>
        <p:spPr>
          <a:xfrm>
            <a:off x="2721254" y="4370832"/>
            <a:ext cx="2948026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85262" y="4411980"/>
            <a:ext cx="282001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captures change</a:t>
            </a:r>
            <a:endParaRPr lang="en-US" sz="645" dirty="0"/>
          </a:p>
        </p:txBody>
      </p:sp>
      <p:sp>
        <p:nvSpPr>
          <p:cNvPr id="41" name="Shape 39"/>
          <p:cNvSpPr/>
          <p:nvPr/>
        </p:nvSpPr>
        <p:spPr>
          <a:xfrm>
            <a:off x="914400" y="4608576"/>
            <a:ext cx="180685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78408" y="4649724"/>
            <a:ext cx="167883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Z-score candidates</a:t>
            </a:r>
            <a:endParaRPr lang="en-US" sz="645" dirty="0"/>
          </a:p>
        </p:txBody>
      </p:sp>
      <p:sp>
        <p:nvSpPr>
          <p:cNvPr id="43" name="Shape 41"/>
          <p:cNvSpPr/>
          <p:nvPr/>
        </p:nvSpPr>
        <p:spPr>
          <a:xfrm>
            <a:off x="2721254" y="4608576"/>
            <a:ext cx="2948026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85262" y="4649724"/>
            <a:ext cx="282001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standardized deviation test</a:t>
            </a:r>
            <a:endParaRPr lang="en-US" sz="645" dirty="0"/>
          </a:p>
        </p:txBody>
      </p:sp>
      <p:sp>
        <p:nvSpPr>
          <p:cNvPr id="45" name="Shape 43"/>
          <p:cNvSpPr/>
          <p:nvPr/>
        </p:nvSpPr>
        <p:spPr>
          <a:xfrm>
            <a:off x="6126480" y="3657600"/>
            <a:ext cx="466344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17315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72784" y="3749040"/>
            <a:ext cx="4370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17315A"/>
                </a:solidFill>
              </a:rPr>
              <a:t>WHAT THIS ADDS</a:t>
            </a:r>
            <a:endParaRPr lang="en-US" sz="580" dirty="0"/>
          </a:p>
        </p:txBody>
      </p:sp>
      <p:sp>
        <p:nvSpPr>
          <p:cNvPr id="47" name="Text 45"/>
          <p:cNvSpPr/>
          <p:nvPr/>
        </p:nvSpPr>
        <p:spPr>
          <a:xfrm>
            <a:off x="6272784" y="3968496"/>
            <a:ext cx="4370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The reference decks show “how features identify vulnerability.” For this project, the relevant version is a feature-engineering map with only validated feature families and formulas, not copied example metrics.</a:t>
            </a:r>
            <a:endParaRPr lang="en-US" sz="740" dirty="0"/>
          </a:p>
        </p:txBody>
      </p:sp>
      <p:sp>
        <p:nvSpPr>
          <p:cNvPr id="48" name="Text 46"/>
          <p:cNvSpPr/>
          <p:nvPr/>
        </p:nvSpPr>
        <p:spPr>
          <a:xfrm>
            <a:off x="502920" y="6556248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92A6"/>
                </a:solidFill>
              </a:rPr>
              <a:t>Validated project development only — no example-deck metrics reused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5B667A"/>
                </a:solidFill>
              </a:rPr>
              <a:t>FRAUD ALERT VULNERABILITY | 05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compare Recent 3m against Prior 9m?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21208" y="108813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B667A"/>
                </a:solidFill>
              </a:rPr>
              <a:t>The feature logic is designed to distinguish unusual recent movement from naturally high historical activity.</a:t>
            </a:r>
            <a:endParaRPr lang="en-US" sz="94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11201400" cy="0"/>
          </a:xfrm>
          <a:prstGeom prst="line">
            <a:avLst/>
          </a:prstGeom>
          <a:noFill/>
          <a:ln w="12700">
            <a:solidFill>
              <a:srgbClr val="D7D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745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Core comparison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2240280"/>
            <a:ext cx="98755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578608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15A"/>
                </a:solidFill>
              </a:rPr>
              <a:t>Prior 9m baseline  →  Recent 3m behavior  →  Change / deviation features  →  Future 3m outcome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3703320"/>
            <a:ext cx="1662379" cy="331470"/>
          </a:xfrm>
          <a:prstGeom prst="rect">
            <a:avLst/>
          </a:prstGeom>
          <a:solidFill>
            <a:srgbClr val="EEF1F7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3744468"/>
            <a:ext cx="1534363" cy="2491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111827"/>
                </a:solidFill>
              </a:rPr>
              <a:t>Representation</a:t>
            </a:r>
            <a:endParaRPr lang="en-US" sz="670" dirty="0"/>
          </a:p>
        </p:txBody>
      </p:sp>
      <p:sp>
        <p:nvSpPr>
          <p:cNvPr id="11" name="Shape 9"/>
          <p:cNvSpPr/>
          <p:nvPr/>
        </p:nvSpPr>
        <p:spPr>
          <a:xfrm>
            <a:off x="2531059" y="3703320"/>
            <a:ext cx="2955341" cy="331470"/>
          </a:xfrm>
          <a:prstGeom prst="rect">
            <a:avLst/>
          </a:prstGeom>
          <a:solidFill>
            <a:srgbClr val="EEF1F7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95067" y="3744468"/>
            <a:ext cx="2827325" cy="2491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111827"/>
                </a:solidFill>
              </a:rPr>
              <a:t>What it protects against</a:t>
            </a:r>
            <a:endParaRPr lang="en-US" sz="670" dirty="0"/>
          </a:p>
        </p:txBody>
      </p:sp>
      <p:sp>
        <p:nvSpPr>
          <p:cNvPr id="13" name="Shape 11"/>
          <p:cNvSpPr/>
          <p:nvPr/>
        </p:nvSpPr>
        <p:spPr>
          <a:xfrm>
            <a:off x="868680" y="4034790"/>
            <a:ext cx="1662379" cy="33147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4075938"/>
            <a:ext cx="1534363" cy="2491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Current only</a:t>
            </a:r>
            <a:endParaRPr lang="en-US" sz="645" dirty="0"/>
          </a:p>
        </p:txBody>
      </p:sp>
      <p:sp>
        <p:nvSpPr>
          <p:cNvPr id="15" name="Shape 13"/>
          <p:cNvSpPr/>
          <p:nvPr/>
        </p:nvSpPr>
        <p:spPr>
          <a:xfrm>
            <a:off x="2531059" y="4034790"/>
            <a:ext cx="2955341" cy="33147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95067" y="4075938"/>
            <a:ext cx="2827325" cy="2491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useful but may rank naturally active parties</a:t>
            </a:r>
            <a:endParaRPr lang="en-US" sz="645" dirty="0"/>
          </a:p>
        </p:txBody>
      </p:sp>
      <p:sp>
        <p:nvSpPr>
          <p:cNvPr id="17" name="Shape 15"/>
          <p:cNvSpPr/>
          <p:nvPr/>
        </p:nvSpPr>
        <p:spPr>
          <a:xfrm>
            <a:off x="868680" y="4366260"/>
            <a:ext cx="1662379" cy="33147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4407408"/>
            <a:ext cx="1534363" cy="2491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Recent vs Prior</a:t>
            </a:r>
            <a:endParaRPr lang="en-US" sz="645" dirty="0"/>
          </a:p>
        </p:txBody>
      </p:sp>
      <p:sp>
        <p:nvSpPr>
          <p:cNvPr id="19" name="Shape 17"/>
          <p:cNvSpPr/>
          <p:nvPr/>
        </p:nvSpPr>
        <p:spPr>
          <a:xfrm>
            <a:off x="2531059" y="4366260"/>
            <a:ext cx="2955341" cy="33147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95067" y="4407408"/>
            <a:ext cx="2827325" cy="2491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focuses on behavioral shift</a:t>
            </a:r>
            <a:endParaRPr lang="en-US" sz="645" dirty="0"/>
          </a:p>
        </p:txBody>
      </p:sp>
      <p:sp>
        <p:nvSpPr>
          <p:cNvPr id="21" name="Shape 19"/>
          <p:cNvSpPr/>
          <p:nvPr/>
        </p:nvSpPr>
        <p:spPr>
          <a:xfrm>
            <a:off x="868680" y="4697730"/>
            <a:ext cx="1662379" cy="33147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4738878"/>
            <a:ext cx="1534363" cy="2491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Future label</a:t>
            </a:r>
            <a:endParaRPr lang="en-US" sz="645" dirty="0"/>
          </a:p>
        </p:txBody>
      </p:sp>
      <p:sp>
        <p:nvSpPr>
          <p:cNvPr id="23" name="Shape 21"/>
          <p:cNvSpPr/>
          <p:nvPr/>
        </p:nvSpPr>
        <p:spPr>
          <a:xfrm>
            <a:off x="2531059" y="4697730"/>
            <a:ext cx="2955341" cy="33147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95067" y="4738878"/>
            <a:ext cx="2827325" cy="2491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keeps evaluation prospective</a:t>
            </a:r>
            <a:endParaRPr lang="en-US" sz="645" dirty="0"/>
          </a:p>
        </p:txBody>
      </p:sp>
      <p:sp>
        <p:nvSpPr>
          <p:cNvPr id="25" name="Shape 23"/>
          <p:cNvSpPr/>
          <p:nvPr/>
        </p:nvSpPr>
        <p:spPr>
          <a:xfrm>
            <a:off x="5989320" y="3703320"/>
            <a:ext cx="4709160" cy="1325880"/>
          </a:xfrm>
          <a:prstGeom prst="roundRect">
            <a:avLst>
              <a:gd name="adj" fmla="val 6897"/>
            </a:avLst>
          </a:prstGeom>
          <a:solidFill>
            <a:srgbClr val="F5F7FB"/>
          </a:solidFill>
          <a:ln w="12700">
            <a:solidFill>
              <a:srgbClr val="257A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35624" y="3794760"/>
            <a:ext cx="4416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257A57"/>
                </a:solidFill>
              </a:rPr>
              <a:t>MANAGER TAKEAWAY</a:t>
            </a:r>
            <a:endParaRPr lang="en-US" sz="580" dirty="0"/>
          </a:p>
        </p:txBody>
      </p:sp>
      <p:sp>
        <p:nvSpPr>
          <p:cNvPr id="27" name="Text 25"/>
          <p:cNvSpPr/>
          <p:nvPr/>
        </p:nvSpPr>
        <p:spPr>
          <a:xfrm>
            <a:off x="6135624" y="4014216"/>
            <a:ext cx="44165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The model is not simply asking “who has activity?” It asks whether the recent state differs from the party’s own historical pattern before a future confirmed event.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502920" y="6556248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92A6"/>
                </a:solidFill>
              </a:rPr>
              <a:t>Validated project development only — no example-deck metrics reused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5B667A"/>
                </a:solidFill>
              </a:rPr>
              <a:t>FRAUD ALERT VULNERABILITY | 06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formulation vs Z-score experiment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21208" y="108813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B667A"/>
                </a:solidFill>
              </a:rPr>
              <a:t>The z-score work is best presented as a controlled feature experiment.</a:t>
            </a:r>
            <a:endParaRPr lang="en-US" sz="94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11201400" cy="0"/>
          </a:xfrm>
          <a:prstGeom prst="line">
            <a:avLst/>
          </a:prstGeom>
          <a:noFill/>
          <a:ln w="12700">
            <a:solidFill>
              <a:srgbClr val="D7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28800"/>
            <a:ext cx="4480560" cy="914400"/>
          </a:xfrm>
          <a:prstGeom prst="roundRect">
            <a:avLst>
              <a:gd name="adj" fmla="val 10000"/>
            </a:avLst>
          </a:prstGeom>
          <a:solidFill>
            <a:srgbClr val="F5F7FB"/>
          </a:solidFill>
          <a:ln w="12700">
            <a:solidFill>
              <a:srgbClr val="3768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920240"/>
            <a:ext cx="4187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3768B0"/>
                </a:solidFill>
              </a:rPr>
              <a:t>CURRENT FORMULATION</a:t>
            </a:r>
            <a:endParaRPr lang="en-US" sz="580" dirty="0"/>
          </a:p>
        </p:txBody>
      </p:sp>
      <p:sp>
        <p:nvSpPr>
          <p:cNvPr id="8" name="Text 6"/>
          <p:cNvSpPr/>
          <p:nvPr/>
        </p:nvSpPr>
        <p:spPr>
          <a:xfrm>
            <a:off x="923544" y="2139696"/>
            <a:ext cx="4187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Uses engineered recent/current behavior and historical context as the baseline Model A feature set.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5715000" y="1828800"/>
            <a:ext cx="4480560" cy="914400"/>
          </a:xfrm>
          <a:prstGeom prst="roundRect">
            <a:avLst>
              <a:gd name="adj" fmla="val 10000"/>
            </a:avLst>
          </a:prstGeom>
          <a:solidFill>
            <a:srgbClr val="F5F7FB"/>
          </a:solidFill>
          <a:ln w="12700">
            <a:solidFill>
              <a:srgbClr val="A4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61304" y="1920240"/>
            <a:ext cx="4187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A43A3A"/>
                </a:solidFill>
              </a:rPr>
              <a:t>Z-SCORE FORMULATION</a:t>
            </a:r>
            <a:endParaRPr lang="en-US" sz="580" dirty="0"/>
          </a:p>
        </p:txBody>
      </p:sp>
      <p:sp>
        <p:nvSpPr>
          <p:cNvPr id="11" name="Text 9"/>
          <p:cNvSpPr/>
          <p:nvPr/>
        </p:nvSpPr>
        <p:spPr>
          <a:xfrm>
            <a:off x="5861304" y="2139696"/>
            <a:ext cx="4187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Represents recent behavior as standardized deviation from the party’s own prior distribution.</a:t>
            </a:r>
            <a:endParaRPr lang="en-US" sz="740" dirty="0"/>
          </a:p>
        </p:txBody>
      </p:sp>
      <p:sp>
        <p:nvSpPr>
          <p:cNvPr id="12" name="Text 10"/>
          <p:cNvSpPr/>
          <p:nvPr/>
        </p:nvSpPr>
        <p:spPr>
          <a:xfrm>
            <a:off x="822960" y="31546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Z-score candidate formula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68680" y="3520440"/>
            <a:ext cx="43891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76732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15A"/>
                </a:solidFill>
              </a:rPr>
              <a:t>z = (recent_3m − mean(prior_9m)) / std(prior_9m)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15000" y="3246120"/>
            <a:ext cx="995782" cy="411480"/>
          </a:xfrm>
          <a:prstGeom prst="rect">
            <a:avLst/>
          </a:prstGeom>
          <a:solidFill>
            <a:srgbClr val="EEF1F7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79008" y="3287268"/>
            <a:ext cx="8677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111827"/>
                </a:solidFill>
              </a:rPr>
              <a:t>Model</a:t>
            </a:r>
            <a:endParaRPr lang="en-US" sz="670" dirty="0"/>
          </a:p>
        </p:txBody>
      </p:sp>
      <p:sp>
        <p:nvSpPr>
          <p:cNvPr id="17" name="Shape 15"/>
          <p:cNvSpPr/>
          <p:nvPr/>
        </p:nvSpPr>
        <p:spPr>
          <a:xfrm>
            <a:off x="6710782" y="3246120"/>
            <a:ext cx="1946300" cy="411480"/>
          </a:xfrm>
          <a:prstGeom prst="rect">
            <a:avLst/>
          </a:prstGeom>
          <a:solidFill>
            <a:srgbClr val="EEF1F7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74790" y="3287268"/>
            <a:ext cx="18182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111827"/>
                </a:solidFill>
              </a:rPr>
              <a:t>Feature set</a:t>
            </a:r>
            <a:endParaRPr lang="en-US" sz="670" dirty="0"/>
          </a:p>
        </p:txBody>
      </p:sp>
      <p:sp>
        <p:nvSpPr>
          <p:cNvPr id="19" name="Shape 17"/>
          <p:cNvSpPr/>
          <p:nvPr/>
        </p:nvSpPr>
        <p:spPr>
          <a:xfrm>
            <a:off x="8657082" y="3246120"/>
            <a:ext cx="1584198" cy="411480"/>
          </a:xfrm>
          <a:prstGeom prst="rect">
            <a:avLst/>
          </a:prstGeom>
          <a:solidFill>
            <a:srgbClr val="EEF1F7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21090" y="3287268"/>
            <a:ext cx="14561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111827"/>
                </a:solidFill>
              </a:rPr>
              <a:t>Purpose</a:t>
            </a:r>
            <a:endParaRPr lang="en-US" sz="670" dirty="0"/>
          </a:p>
        </p:txBody>
      </p:sp>
      <p:sp>
        <p:nvSpPr>
          <p:cNvPr id="21" name="Shape 19"/>
          <p:cNvSpPr/>
          <p:nvPr/>
        </p:nvSpPr>
        <p:spPr>
          <a:xfrm>
            <a:off x="5715000" y="3657600"/>
            <a:ext cx="99578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79008" y="3698748"/>
            <a:ext cx="8677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A</a:t>
            </a:r>
            <a:endParaRPr lang="en-US" sz="645" dirty="0"/>
          </a:p>
        </p:txBody>
      </p:sp>
      <p:sp>
        <p:nvSpPr>
          <p:cNvPr id="23" name="Shape 21"/>
          <p:cNvSpPr/>
          <p:nvPr/>
        </p:nvSpPr>
        <p:spPr>
          <a:xfrm>
            <a:off x="6710782" y="3657600"/>
            <a:ext cx="19463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74790" y="3698748"/>
            <a:ext cx="18182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Base engineered features</a:t>
            </a:r>
            <a:endParaRPr lang="en-US" sz="645" dirty="0"/>
          </a:p>
        </p:txBody>
      </p:sp>
      <p:sp>
        <p:nvSpPr>
          <p:cNvPr id="25" name="Shape 23"/>
          <p:cNvSpPr/>
          <p:nvPr/>
        </p:nvSpPr>
        <p:spPr>
          <a:xfrm>
            <a:off x="8657082" y="3657600"/>
            <a:ext cx="158419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21090" y="3698748"/>
            <a:ext cx="14561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current benchmark</a:t>
            </a:r>
            <a:endParaRPr lang="en-US" sz="645" dirty="0"/>
          </a:p>
        </p:txBody>
      </p:sp>
      <p:sp>
        <p:nvSpPr>
          <p:cNvPr id="27" name="Shape 25"/>
          <p:cNvSpPr/>
          <p:nvPr/>
        </p:nvSpPr>
        <p:spPr>
          <a:xfrm>
            <a:off x="5715000" y="4069080"/>
            <a:ext cx="99578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79008" y="4110228"/>
            <a:ext cx="8677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B</a:t>
            </a:r>
            <a:endParaRPr lang="en-US" sz="645" dirty="0"/>
          </a:p>
        </p:txBody>
      </p:sp>
      <p:sp>
        <p:nvSpPr>
          <p:cNvPr id="29" name="Shape 27"/>
          <p:cNvSpPr/>
          <p:nvPr/>
        </p:nvSpPr>
        <p:spPr>
          <a:xfrm>
            <a:off x="6710782" y="4069080"/>
            <a:ext cx="19463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74790" y="4110228"/>
            <a:ext cx="18182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A + selected Z</a:t>
            </a:r>
            <a:endParaRPr lang="en-US" sz="645" dirty="0"/>
          </a:p>
        </p:txBody>
      </p:sp>
      <p:sp>
        <p:nvSpPr>
          <p:cNvPr id="31" name="Shape 29"/>
          <p:cNvSpPr/>
          <p:nvPr/>
        </p:nvSpPr>
        <p:spPr>
          <a:xfrm>
            <a:off x="8657082" y="4069080"/>
            <a:ext cx="158419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21090" y="4110228"/>
            <a:ext cx="14561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incremental signal test</a:t>
            </a:r>
            <a:endParaRPr lang="en-US" sz="645" dirty="0"/>
          </a:p>
        </p:txBody>
      </p:sp>
      <p:sp>
        <p:nvSpPr>
          <p:cNvPr id="33" name="Shape 31"/>
          <p:cNvSpPr/>
          <p:nvPr/>
        </p:nvSpPr>
        <p:spPr>
          <a:xfrm>
            <a:off x="868680" y="4892040"/>
            <a:ext cx="9372600" cy="640080"/>
          </a:xfrm>
          <a:prstGeom prst="roundRect">
            <a:avLst>
              <a:gd name="adj" fmla="val 14286"/>
            </a:avLst>
          </a:prstGeom>
          <a:solidFill>
            <a:srgbClr val="F5F7FB"/>
          </a:solidFill>
          <a:ln w="12700">
            <a:solidFill>
              <a:srgbClr val="B777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4984" y="4983480"/>
            <a:ext cx="9079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B7772B"/>
                </a:solidFill>
              </a:rPr>
              <a:t>DECISION RULE</a:t>
            </a:r>
            <a:endParaRPr lang="en-US" sz="580" dirty="0"/>
          </a:p>
        </p:txBody>
      </p:sp>
      <p:sp>
        <p:nvSpPr>
          <p:cNvPr id="35" name="Text 33"/>
          <p:cNvSpPr/>
          <p:nvPr/>
        </p:nvSpPr>
        <p:spPr>
          <a:xfrm>
            <a:off x="1014984" y="5202936"/>
            <a:ext cx="9079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Z-score should be adopted only if Model B improves holdout ranking and remains stable. It should not be treated as better because it is more sophisticated.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502920" y="6556248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92A6"/>
                </a:solidFill>
              </a:rPr>
              <a:t>Validated project development only — no example-deck metrics reused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5B667A"/>
                </a:solidFill>
              </a:rPr>
              <a:t>FRAUD ALERT VULNERABILITY | 07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Controlled model experiment: A vs B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21208" y="108813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B667A"/>
                </a:solidFill>
              </a:rPr>
              <a:t>The model comparison is the central experiment after feature engineering.</a:t>
            </a:r>
            <a:endParaRPr lang="en-US" sz="94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11201400" cy="0"/>
          </a:xfrm>
          <a:prstGeom prst="line">
            <a:avLst/>
          </a:prstGeom>
          <a:noFill/>
          <a:ln w="12700">
            <a:solidFill>
              <a:srgbClr val="D7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74520"/>
            <a:ext cx="1865376" cy="335280"/>
          </a:xfrm>
          <a:prstGeom prst="rect">
            <a:avLst/>
          </a:prstGeom>
          <a:solidFill>
            <a:srgbClr val="EEF1F7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915668"/>
            <a:ext cx="1737360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111827"/>
                </a:solidFill>
              </a:rPr>
              <a:t>Component</a:t>
            </a:r>
            <a:endParaRPr lang="en-US" sz="670" dirty="0"/>
          </a:p>
        </p:txBody>
      </p:sp>
      <p:sp>
        <p:nvSpPr>
          <p:cNvPr id="8" name="Shape 6"/>
          <p:cNvSpPr/>
          <p:nvPr/>
        </p:nvSpPr>
        <p:spPr>
          <a:xfrm>
            <a:off x="2688336" y="1874520"/>
            <a:ext cx="1810512" cy="335280"/>
          </a:xfrm>
          <a:prstGeom prst="rect">
            <a:avLst/>
          </a:prstGeom>
          <a:solidFill>
            <a:srgbClr val="EEF1F7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52344" y="1915668"/>
            <a:ext cx="1682496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111827"/>
                </a:solidFill>
              </a:rPr>
              <a:t>Model A</a:t>
            </a:r>
            <a:endParaRPr lang="en-US" sz="670" dirty="0"/>
          </a:p>
        </p:txBody>
      </p:sp>
      <p:sp>
        <p:nvSpPr>
          <p:cNvPr id="10" name="Shape 8"/>
          <p:cNvSpPr/>
          <p:nvPr/>
        </p:nvSpPr>
        <p:spPr>
          <a:xfrm>
            <a:off x="4498848" y="1874520"/>
            <a:ext cx="1810512" cy="335280"/>
          </a:xfrm>
          <a:prstGeom prst="rect">
            <a:avLst/>
          </a:prstGeom>
          <a:solidFill>
            <a:srgbClr val="EEF1F7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62856" y="1915668"/>
            <a:ext cx="1682496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111827"/>
                </a:solidFill>
              </a:rPr>
              <a:t>Model B</a:t>
            </a:r>
            <a:endParaRPr lang="en-US" sz="670" dirty="0"/>
          </a:p>
        </p:txBody>
      </p:sp>
      <p:sp>
        <p:nvSpPr>
          <p:cNvPr id="12" name="Shape 10"/>
          <p:cNvSpPr/>
          <p:nvPr/>
        </p:nvSpPr>
        <p:spPr>
          <a:xfrm>
            <a:off x="822960" y="2209800"/>
            <a:ext cx="1865376" cy="335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250948"/>
            <a:ext cx="1737360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Algorithm</a:t>
            </a:r>
            <a:endParaRPr lang="en-US" sz="645" dirty="0"/>
          </a:p>
        </p:txBody>
      </p:sp>
      <p:sp>
        <p:nvSpPr>
          <p:cNvPr id="14" name="Shape 12"/>
          <p:cNvSpPr/>
          <p:nvPr/>
        </p:nvSpPr>
        <p:spPr>
          <a:xfrm>
            <a:off x="2688336" y="2209800"/>
            <a:ext cx="1810512" cy="335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52344" y="2250948"/>
            <a:ext cx="1682496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Logistic Regression</a:t>
            </a:r>
            <a:endParaRPr lang="en-US" sz="645" dirty="0"/>
          </a:p>
        </p:txBody>
      </p:sp>
      <p:sp>
        <p:nvSpPr>
          <p:cNvPr id="16" name="Shape 14"/>
          <p:cNvSpPr/>
          <p:nvPr/>
        </p:nvSpPr>
        <p:spPr>
          <a:xfrm>
            <a:off x="4498848" y="2209800"/>
            <a:ext cx="1810512" cy="335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62856" y="2250948"/>
            <a:ext cx="1682496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Logistic Regression</a:t>
            </a:r>
            <a:endParaRPr lang="en-US" sz="645" dirty="0"/>
          </a:p>
        </p:txBody>
      </p:sp>
      <p:sp>
        <p:nvSpPr>
          <p:cNvPr id="18" name="Shape 16"/>
          <p:cNvSpPr/>
          <p:nvPr/>
        </p:nvSpPr>
        <p:spPr>
          <a:xfrm>
            <a:off x="822960" y="2545080"/>
            <a:ext cx="1865376" cy="335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2586228"/>
            <a:ext cx="1737360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Regularization</a:t>
            </a:r>
            <a:endParaRPr lang="en-US" sz="645" dirty="0"/>
          </a:p>
        </p:txBody>
      </p:sp>
      <p:sp>
        <p:nvSpPr>
          <p:cNvPr id="20" name="Shape 18"/>
          <p:cNvSpPr/>
          <p:nvPr/>
        </p:nvSpPr>
        <p:spPr>
          <a:xfrm>
            <a:off x="2688336" y="2545080"/>
            <a:ext cx="1810512" cy="335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52344" y="2586228"/>
            <a:ext cx="1682496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L2</a:t>
            </a:r>
            <a:endParaRPr lang="en-US" sz="645" dirty="0"/>
          </a:p>
        </p:txBody>
      </p:sp>
      <p:sp>
        <p:nvSpPr>
          <p:cNvPr id="22" name="Shape 20"/>
          <p:cNvSpPr/>
          <p:nvPr/>
        </p:nvSpPr>
        <p:spPr>
          <a:xfrm>
            <a:off x="4498848" y="2545080"/>
            <a:ext cx="1810512" cy="335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62856" y="2586228"/>
            <a:ext cx="1682496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L2</a:t>
            </a:r>
            <a:endParaRPr lang="en-US" sz="645" dirty="0"/>
          </a:p>
        </p:txBody>
      </p:sp>
      <p:sp>
        <p:nvSpPr>
          <p:cNvPr id="24" name="Shape 22"/>
          <p:cNvSpPr/>
          <p:nvPr/>
        </p:nvSpPr>
        <p:spPr>
          <a:xfrm>
            <a:off x="822960" y="2880360"/>
            <a:ext cx="1865376" cy="335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2921508"/>
            <a:ext cx="1737360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Base engineered features</a:t>
            </a:r>
            <a:endParaRPr lang="en-US" sz="645" dirty="0"/>
          </a:p>
        </p:txBody>
      </p:sp>
      <p:sp>
        <p:nvSpPr>
          <p:cNvPr id="26" name="Shape 24"/>
          <p:cNvSpPr/>
          <p:nvPr/>
        </p:nvSpPr>
        <p:spPr>
          <a:xfrm>
            <a:off x="2688336" y="2880360"/>
            <a:ext cx="1810512" cy="335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52344" y="2921508"/>
            <a:ext cx="1682496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Included</a:t>
            </a:r>
            <a:endParaRPr lang="en-US" sz="645" dirty="0"/>
          </a:p>
        </p:txBody>
      </p:sp>
      <p:sp>
        <p:nvSpPr>
          <p:cNvPr id="28" name="Shape 26"/>
          <p:cNvSpPr/>
          <p:nvPr/>
        </p:nvSpPr>
        <p:spPr>
          <a:xfrm>
            <a:off x="4498848" y="2880360"/>
            <a:ext cx="1810512" cy="335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62856" y="2921508"/>
            <a:ext cx="1682496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Included</a:t>
            </a:r>
            <a:endParaRPr lang="en-US" sz="645" dirty="0"/>
          </a:p>
        </p:txBody>
      </p:sp>
      <p:sp>
        <p:nvSpPr>
          <p:cNvPr id="30" name="Shape 28"/>
          <p:cNvSpPr/>
          <p:nvPr/>
        </p:nvSpPr>
        <p:spPr>
          <a:xfrm>
            <a:off x="822960" y="3215640"/>
            <a:ext cx="1865376" cy="335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6968" y="3256788"/>
            <a:ext cx="1737360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Selected Z features</a:t>
            </a:r>
            <a:endParaRPr lang="en-US" sz="645" dirty="0"/>
          </a:p>
        </p:txBody>
      </p:sp>
      <p:sp>
        <p:nvSpPr>
          <p:cNvPr id="32" name="Shape 30"/>
          <p:cNvSpPr/>
          <p:nvPr/>
        </p:nvSpPr>
        <p:spPr>
          <a:xfrm>
            <a:off x="2688336" y="3215640"/>
            <a:ext cx="1810512" cy="335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52344" y="3256788"/>
            <a:ext cx="1682496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Not included</a:t>
            </a:r>
            <a:endParaRPr lang="en-US" sz="645" dirty="0"/>
          </a:p>
        </p:txBody>
      </p:sp>
      <p:sp>
        <p:nvSpPr>
          <p:cNvPr id="34" name="Shape 32"/>
          <p:cNvSpPr/>
          <p:nvPr/>
        </p:nvSpPr>
        <p:spPr>
          <a:xfrm>
            <a:off x="4498848" y="3215640"/>
            <a:ext cx="1810512" cy="335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62856" y="3256788"/>
            <a:ext cx="1682496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Included</a:t>
            </a:r>
            <a:endParaRPr lang="en-US" sz="645" dirty="0"/>
          </a:p>
        </p:txBody>
      </p:sp>
      <p:sp>
        <p:nvSpPr>
          <p:cNvPr id="36" name="Shape 34"/>
          <p:cNvSpPr/>
          <p:nvPr/>
        </p:nvSpPr>
        <p:spPr>
          <a:xfrm>
            <a:off x="822960" y="3550920"/>
            <a:ext cx="1865376" cy="335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6968" y="3592068"/>
            <a:ext cx="1737360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Purpose</a:t>
            </a:r>
            <a:endParaRPr lang="en-US" sz="645" dirty="0"/>
          </a:p>
        </p:txBody>
      </p:sp>
      <p:sp>
        <p:nvSpPr>
          <p:cNvPr id="38" name="Shape 36"/>
          <p:cNvSpPr/>
          <p:nvPr/>
        </p:nvSpPr>
        <p:spPr>
          <a:xfrm>
            <a:off x="2688336" y="3550920"/>
            <a:ext cx="1810512" cy="335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52344" y="3592068"/>
            <a:ext cx="1682496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Baseline benchmark</a:t>
            </a:r>
            <a:endParaRPr lang="en-US" sz="645" dirty="0"/>
          </a:p>
        </p:txBody>
      </p:sp>
      <p:sp>
        <p:nvSpPr>
          <p:cNvPr id="40" name="Shape 38"/>
          <p:cNvSpPr/>
          <p:nvPr/>
        </p:nvSpPr>
        <p:spPr>
          <a:xfrm>
            <a:off x="4498848" y="3550920"/>
            <a:ext cx="1810512" cy="335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62856" y="3592068"/>
            <a:ext cx="1682496" cy="252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Incremental deviation test</a:t>
            </a:r>
            <a:endParaRPr lang="en-US" sz="645" dirty="0"/>
          </a:p>
        </p:txBody>
      </p:sp>
      <p:sp>
        <p:nvSpPr>
          <p:cNvPr id="42" name="Shape 40"/>
          <p:cNvSpPr/>
          <p:nvPr/>
        </p:nvSpPr>
        <p:spPr>
          <a:xfrm>
            <a:off x="6766560" y="1965960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F5F7FB"/>
          </a:solidFill>
          <a:ln w="12700">
            <a:solidFill>
              <a:srgbClr val="1731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12864" y="2057400"/>
            <a:ext cx="3639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17315A"/>
                </a:solidFill>
              </a:rPr>
              <a:t>CURRENT BENCHMARK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>
            <a:off x="6912864" y="2276856"/>
            <a:ext cx="36393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Model A / regParam 0.01 is the currently reported validation benchmark.</a:t>
            </a:r>
            <a:endParaRPr lang="en-US" sz="740" dirty="0"/>
          </a:p>
        </p:txBody>
      </p:sp>
      <p:sp>
        <p:nvSpPr>
          <p:cNvPr id="45" name="Shape 43"/>
          <p:cNvSpPr/>
          <p:nvPr/>
        </p:nvSpPr>
        <p:spPr>
          <a:xfrm>
            <a:off x="6766560" y="3291840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F5F7FB"/>
          </a:solidFill>
          <a:ln w="12700">
            <a:solidFill>
              <a:srgbClr val="A43A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12864" y="3383280"/>
            <a:ext cx="3639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A43A3A"/>
                </a:solidFill>
              </a:rPr>
              <a:t>WHAT TO ADD NEXT</a:t>
            </a:r>
            <a:endParaRPr lang="en-US" sz="580" dirty="0"/>
          </a:p>
        </p:txBody>
      </p:sp>
      <p:sp>
        <p:nvSpPr>
          <p:cNvPr id="47" name="Text 45"/>
          <p:cNvSpPr/>
          <p:nvPr/>
        </p:nvSpPr>
        <p:spPr>
          <a:xfrm>
            <a:off x="6912864" y="3602736"/>
            <a:ext cx="36393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Place Model B metrics beside A once validated, using the exact same validation/test definitions.</a:t>
            </a:r>
            <a:endParaRPr lang="en-US" sz="740" dirty="0"/>
          </a:p>
        </p:txBody>
      </p:sp>
      <p:sp>
        <p:nvSpPr>
          <p:cNvPr id="48" name="Shape 46"/>
          <p:cNvSpPr/>
          <p:nvPr/>
        </p:nvSpPr>
        <p:spPr>
          <a:xfrm>
            <a:off x="868680" y="4983480"/>
            <a:ext cx="9829800" cy="594360"/>
          </a:xfrm>
          <a:prstGeom prst="roundRect">
            <a:avLst>
              <a:gd name="adj" fmla="val 15385"/>
            </a:avLst>
          </a:prstGeom>
          <a:solidFill>
            <a:srgbClr val="F5F7FB"/>
          </a:solidFill>
          <a:ln w="12700">
            <a:solidFill>
              <a:srgbClr val="257A5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14984" y="5074920"/>
            <a:ext cx="9537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257A57"/>
                </a:solidFill>
              </a:rPr>
              <a:t>WHY THIS SLIDE MATTERS</a:t>
            </a:r>
            <a:endParaRPr lang="en-US" sz="580" dirty="0"/>
          </a:p>
        </p:txBody>
      </p:sp>
      <p:sp>
        <p:nvSpPr>
          <p:cNvPr id="50" name="Text 48"/>
          <p:cNvSpPr/>
          <p:nvPr/>
        </p:nvSpPr>
        <p:spPr>
          <a:xfrm>
            <a:off x="1014984" y="5294376"/>
            <a:ext cx="9537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It changes the story from “we tried z-score” to “we designed an incremental experiment with a baseline and a challenger model.”</a:t>
            </a:r>
            <a:endParaRPr lang="en-US" sz="740" dirty="0"/>
          </a:p>
        </p:txBody>
      </p:sp>
      <p:sp>
        <p:nvSpPr>
          <p:cNvPr id="51" name="Text 49"/>
          <p:cNvSpPr/>
          <p:nvPr/>
        </p:nvSpPr>
        <p:spPr>
          <a:xfrm>
            <a:off x="502920" y="6556248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92A6"/>
                </a:solidFill>
              </a:rPr>
              <a:t>Validated project development only — no example-deck metrics reused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5B667A"/>
                </a:solidFill>
              </a:rPr>
              <a:t>FRAUD ALERT VULNERABILITY | 08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benchmark: Model A / regParam = 0.01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21208" y="108813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B667A"/>
                </a:solidFill>
              </a:rPr>
              <a:t>Performance should be shown as both global discrimination and ranked operational concentration.</a:t>
            </a:r>
            <a:endParaRPr lang="en-US" sz="94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11201400" cy="0"/>
          </a:xfrm>
          <a:prstGeom prst="line">
            <a:avLst/>
          </a:prstGeom>
          <a:noFill/>
          <a:ln w="12700">
            <a:solidFill>
              <a:srgbClr val="D7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28800"/>
            <a:ext cx="1330452" cy="342900"/>
          </a:xfrm>
          <a:prstGeom prst="rect">
            <a:avLst/>
          </a:prstGeom>
          <a:solidFill>
            <a:srgbClr val="EEF1F7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869948"/>
            <a:ext cx="120243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111827"/>
                </a:solidFill>
              </a:rPr>
              <a:t>Metric</a:t>
            </a:r>
            <a:endParaRPr lang="en-US" sz="670" dirty="0"/>
          </a:p>
        </p:txBody>
      </p:sp>
      <p:sp>
        <p:nvSpPr>
          <p:cNvPr id="8" name="Shape 6"/>
          <p:cNvSpPr/>
          <p:nvPr/>
        </p:nvSpPr>
        <p:spPr>
          <a:xfrm>
            <a:off x="2107692" y="1828800"/>
            <a:ext cx="975665" cy="342900"/>
          </a:xfrm>
          <a:prstGeom prst="rect">
            <a:avLst/>
          </a:prstGeom>
          <a:solidFill>
            <a:srgbClr val="EEF1F7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1700" y="1869948"/>
            <a:ext cx="847649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111827"/>
                </a:solidFill>
              </a:rPr>
              <a:t>Value</a:t>
            </a:r>
            <a:endParaRPr lang="en-US" sz="670" dirty="0"/>
          </a:p>
        </p:txBody>
      </p:sp>
      <p:sp>
        <p:nvSpPr>
          <p:cNvPr id="10" name="Shape 8"/>
          <p:cNvSpPr/>
          <p:nvPr/>
        </p:nvSpPr>
        <p:spPr>
          <a:xfrm>
            <a:off x="3083357" y="1828800"/>
            <a:ext cx="2128723" cy="342900"/>
          </a:xfrm>
          <a:prstGeom prst="rect">
            <a:avLst/>
          </a:prstGeom>
          <a:solidFill>
            <a:srgbClr val="EEF1F7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47365" y="1869948"/>
            <a:ext cx="2000707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111827"/>
                </a:solidFill>
              </a:rPr>
              <a:t>Read as</a:t>
            </a:r>
            <a:endParaRPr lang="en-US" sz="670" dirty="0"/>
          </a:p>
        </p:txBody>
      </p:sp>
      <p:sp>
        <p:nvSpPr>
          <p:cNvPr id="12" name="Shape 10"/>
          <p:cNvSpPr/>
          <p:nvPr/>
        </p:nvSpPr>
        <p:spPr>
          <a:xfrm>
            <a:off x="777240" y="2171700"/>
            <a:ext cx="1330452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212848"/>
            <a:ext cx="120243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AUPRC</a:t>
            </a:r>
            <a:endParaRPr lang="en-US" sz="645" dirty="0"/>
          </a:p>
        </p:txBody>
      </p:sp>
      <p:sp>
        <p:nvSpPr>
          <p:cNvPr id="14" name="Shape 12"/>
          <p:cNvSpPr/>
          <p:nvPr/>
        </p:nvSpPr>
        <p:spPr>
          <a:xfrm>
            <a:off x="2107692" y="2171700"/>
            <a:ext cx="975665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71700" y="2212848"/>
            <a:ext cx="847649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0.1365</a:t>
            </a:r>
            <a:endParaRPr lang="en-US" sz="645" dirty="0"/>
          </a:p>
        </p:txBody>
      </p:sp>
      <p:sp>
        <p:nvSpPr>
          <p:cNvPr id="16" name="Shape 14"/>
          <p:cNvSpPr/>
          <p:nvPr/>
        </p:nvSpPr>
        <p:spPr>
          <a:xfrm>
            <a:off x="3083357" y="2171700"/>
            <a:ext cx="2128723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47365" y="2212848"/>
            <a:ext cx="2000707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rare-event ranking</a:t>
            </a:r>
            <a:endParaRPr lang="en-US" sz="645" dirty="0"/>
          </a:p>
        </p:txBody>
      </p:sp>
      <p:sp>
        <p:nvSpPr>
          <p:cNvPr id="18" name="Shape 16"/>
          <p:cNvSpPr/>
          <p:nvPr/>
        </p:nvSpPr>
        <p:spPr>
          <a:xfrm>
            <a:off x="777240" y="2514600"/>
            <a:ext cx="1330452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2555748"/>
            <a:ext cx="120243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AUROC</a:t>
            </a:r>
            <a:endParaRPr lang="en-US" sz="645" dirty="0"/>
          </a:p>
        </p:txBody>
      </p:sp>
      <p:sp>
        <p:nvSpPr>
          <p:cNvPr id="20" name="Shape 18"/>
          <p:cNvSpPr/>
          <p:nvPr/>
        </p:nvSpPr>
        <p:spPr>
          <a:xfrm>
            <a:off x="2107692" y="2514600"/>
            <a:ext cx="975665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71700" y="2555748"/>
            <a:ext cx="847649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0.6671</a:t>
            </a:r>
            <a:endParaRPr lang="en-US" sz="645" dirty="0"/>
          </a:p>
        </p:txBody>
      </p:sp>
      <p:sp>
        <p:nvSpPr>
          <p:cNvPr id="22" name="Shape 20"/>
          <p:cNvSpPr/>
          <p:nvPr/>
        </p:nvSpPr>
        <p:spPr>
          <a:xfrm>
            <a:off x="3083357" y="2514600"/>
            <a:ext cx="2128723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47365" y="2555748"/>
            <a:ext cx="2000707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global separation</a:t>
            </a:r>
            <a:endParaRPr lang="en-US" sz="645" dirty="0"/>
          </a:p>
        </p:txBody>
      </p:sp>
      <p:sp>
        <p:nvSpPr>
          <p:cNvPr id="24" name="Shape 22"/>
          <p:cNvSpPr/>
          <p:nvPr/>
        </p:nvSpPr>
        <p:spPr>
          <a:xfrm>
            <a:off x="777240" y="2857500"/>
            <a:ext cx="1330452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2898648"/>
            <a:ext cx="120243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Lift@1%</a:t>
            </a:r>
            <a:endParaRPr lang="en-US" sz="645" dirty="0"/>
          </a:p>
        </p:txBody>
      </p:sp>
      <p:sp>
        <p:nvSpPr>
          <p:cNvPr id="26" name="Shape 24"/>
          <p:cNvSpPr/>
          <p:nvPr/>
        </p:nvSpPr>
        <p:spPr>
          <a:xfrm>
            <a:off x="2107692" y="2857500"/>
            <a:ext cx="975665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71700" y="2898648"/>
            <a:ext cx="847649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1.524</a:t>
            </a:r>
            <a:endParaRPr lang="en-US" sz="645" dirty="0"/>
          </a:p>
        </p:txBody>
      </p:sp>
      <p:sp>
        <p:nvSpPr>
          <p:cNvPr id="28" name="Shape 26"/>
          <p:cNvSpPr/>
          <p:nvPr/>
        </p:nvSpPr>
        <p:spPr>
          <a:xfrm>
            <a:off x="3083357" y="2857500"/>
            <a:ext cx="2128723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47365" y="2898648"/>
            <a:ext cx="2000707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top-ranked concentration</a:t>
            </a:r>
            <a:endParaRPr lang="en-US" sz="645" dirty="0"/>
          </a:p>
        </p:txBody>
      </p:sp>
      <p:sp>
        <p:nvSpPr>
          <p:cNvPr id="30" name="Shape 28"/>
          <p:cNvSpPr/>
          <p:nvPr/>
        </p:nvSpPr>
        <p:spPr>
          <a:xfrm>
            <a:off x="777240" y="3200400"/>
            <a:ext cx="1330452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" y="3241548"/>
            <a:ext cx="120243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Lift@5%</a:t>
            </a:r>
            <a:endParaRPr lang="en-US" sz="645" dirty="0"/>
          </a:p>
        </p:txBody>
      </p:sp>
      <p:sp>
        <p:nvSpPr>
          <p:cNvPr id="32" name="Shape 30"/>
          <p:cNvSpPr/>
          <p:nvPr/>
        </p:nvSpPr>
        <p:spPr>
          <a:xfrm>
            <a:off x="2107692" y="3200400"/>
            <a:ext cx="975665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71700" y="3241548"/>
            <a:ext cx="847649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1.576</a:t>
            </a:r>
            <a:endParaRPr lang="en-US" sz="645" dirty="0"/>
          </a:p>
        </p:txBody>
      </p:sp>
      <p:sp>
        <p:nvSpPr>
          <p:cNvPr id="34" name="Shape 32"/>
          <p:cNvSpPr/>
          <p:nvPr/>
        </p:nvSpPr>
        <p:spPr>
          <a:xfrm>
            <a:off x="3083357" y="3200400"/>
            <a:ext cx="2128723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47365" y="3241548"/>
            <a:ext cx="2000707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top-ranked concentration</a:t>
            </a:r>
            <a:endParaRPr lang="en-US" sz="645" dirty="0"/>
          </a:p>
        </p:txBody>
      </p:sp>
      <p:sp>
        <p:nvSpPr>
          <p:cNvPr id="36" name="Shape 34"/>
          <p:cNvSpPr/>
          <p:nvPr/>
        </p:nvSpPr>
        <p:spPr>
          <a:xfrm>
            <a:off x="777240" y="3543300"/>
            <a:ext cx="1330452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" y="3584448"/>
            <a:ext cx="120243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Lift@10%</a:t>
            </a:r>
            <a:endParaRPr lang="en-US" sz="645" dirty="0"/>
          </a:p>
        </p:txBody>
      </p:sp>
      <p:sp>
        <p:nvSpPr>
          <p:cNvPr id="38" name="Shape 36"/>
          <p:cNvSpPr/>
          <p:nvPr/>
        </p:nvSpPr>
        <p:spPr>
          <a:xfrm>
            <a:off x="2107692" y="3543300"/>
            <a:ext cx="975665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71700" y="3584448"/>
            <a:ext cx="847649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1.596</a:t>
            </a:r>
            <a:endParaRPr lang="en-US" sz="645" dirty="0"/>
          </a:p>
        </p:txBody>
      </p:sp>
      <p:sp>
        <p:nvSpPr>
          <p:cNvPr id="40" name="Shape 38"/>
          <p:cNvSpPr/>
          <p:nvPr/>
        </p:nvSpPr>
        <p:spPr>
          <a:xfrm>
            <a:off x="3083357" y="3543300"/>
            <a:ext cx="2128723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47365" y="3584448"/>
            <a:ext cx="2000707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top-ranked concentration</a:t>
            </a:r>
            <a:endParaRPr lang="en-US" sz="645" dirty="0"/>
          </a:p>
        </p:txBody>
      </p:sp>
      <p:sp>
        <p:nvSpPr>
          <p:cNvPr id="42" name="Text 40"/>
          <p:cNvSpPr/>
          <p:nvPr/>
        </p:nvSpPr>
        <p:spPr>
          <a:xfrm>
            <a:off x="5989320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Metric view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852160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5B667A"/>
                </a:solidFill>
              </a:rPr>
              <a:t>AUPRC</a:t>
            </a:r>
            <a:endParaRPr lang="en-US" sz="640" dirty="0"/>
          </a:p>
        </p:txBody>
      </p:sp>
      <p:sp>
        <p:nvSpPr>
          <p:cNvPr id="44" name="Shape 42"/>
          <p:cNvSpPr/>
          <p:nvPr/>
        </p:nvSpPr>
        <p:spPr>
          <a:xfrm>
            <a:off x="7269480" y="2350008"/>
            <a:ext cx="2971800" cy="118872"/>
          </a:xfrm>
          <a:prstGeom prst="rect">
            <a:avLst/>
          </a:prstGeom>
          <a:solidFill>
            <a:srgbClr val="E7EAF1"/>
          </a:solidFill>
          <a:ln w="12700">
            <a:solidFill>
              <a:srgbClr val="E7EAF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69480" y="2350008"/>
            <a:ext cx="405651" cy="118872"/>
          </a:xfrm>
          <a:prstGeom prst="rect">
            <a:avLst/>
          </a:prstGeom>
          <a:solidFill>
            <a:srgbClr val="A43A3A"/>
          </a:solidFill>
          <a:ln w="12700">
            <a:solidFill>
              <a:srgbClr val="A43A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332720" y="231800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0.1365</a:t>
            </a:r>
            <a:endParaRPr lang="en-US" sz="620" dirty="0"/>
          </a:p>
        </p:txBody>
      </p:sp>
      <p:sp>
        <p:nvSpPr>
          <p:cNvPr id="47" name="Text 45"/>
          <p:cNvSpPr/>
          <p:nvPr/>
        </p:nvSpPr>
        <p:spPr>
          <a:xfrm>
            <a:off x="5852160" y="275234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5B667A"/>
                </a:solidFill>
              </a:rPr>
              <a:t>AUROC</a:t>
            </a:r>
            <a:endParaRPr lang="en-US" sz="640" dirty="0"/>
          </a:p>
        </p:txBody>
      </p:sp>
      <p:sp>
        <p:nvSpPr>
          <p:cNvPr id="48" name="Shape 46"/>
          <p:cNvSpPr/>
          <p:nvPr/>
        </p:nvSpPr>
        <p:spPr>
          <a:xfrm>
            <a:off x="7269480" y="2761488"/>
            <a:ext cx="2971800" cy="118872"/>
          </a:xfrm>
          <a:prstGeom prst="rect">
            <a:avLst/>
          </a:prstGeom>
          <a:solidFill>
            <a:srgbClr val="E7EAF1"/>
          </a:solidFill>
          <a:ln w="12700">
            <a:solidFill>
              <a:srgbClr val="E7EAF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269480" y="2761488"/>
            <a:ext cx="1982488" cy="118872"/>
          </a:xfrm>
          <a:prstGeom prst="rect">
            <a:avLst/>
          </a:prstGeom>
          <a:solidFill>
            <a:srgbClr val="3768B0"/>
          </a:solidFill>
          <a:ln w="12700">
            <a:solidFill>
              <a:srgbClr val="3768B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332720" y="272948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0.6671</a:t>
            </a:r>
            <a:endParaRPr lang="en-US" sz="620" dirty="0"/>
          </a:p>
        </p:txBody>
      </p:sp>
      <p:sp>
        <p:nvSpPr>
          <p:cNvPr id="51" name="Text 49"/>
          <p:cNvSpPr/>
          <p:nvPr/>
        </p:nvSpPr>
        <p:spPr>
          <a:xfrm>
            <a:off x="5852160" y="316382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5B667A"/>
                </a:solidFill>
              </a:rPr>
              <a:t>Lift@1%</a:t>
            </a:r>
            <a:endParaRPr lang="en-US" sz="640" dirty="0"/>
          </a:p>
        </p:txBody>
      </p:sp>
      <p:sp>
        <p:nvSpPr>
          <p:cNvPr id="52" name="Shape 50"/>
          <p:cNvSpPr/>
          <p:nvPr/>
        </p:nvSpPr>
        <p:spPr>
          <a:xfrm>
            <a:off x="7269480" y="3172968"/>
            <a:ext cx="2971800" cy="118872"/>
          </a:xfrm>
          <a:prstGeom prst="rect">
            <a:avLst/>
          </a:prstGeom>
          <a:solidFill>
            <a:srgbClr val="E7EAF1"/>
          </a:solidFill>
          <a:ln w="12700">
            <a:solidFill>
              <a:srgbClr val="E7EAF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269480" y="3172968"/>
            <a:ext cx="2264512" cy="118872"/>
          </a:xfrm>
          <a:prstGeom prst="rect">
            <a:avLst/>
          </a:prstGeom>
          <a:solidFill>
            <a:srgbClr val="257A57"/>
          </a:solidFill>
          <a:ln w="12700">
            <a:solidFill>
              <a:srgbClr val="257A5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332720" y="314096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1.524x</a:t>
            </a:r>
            <a:endParaRPr lang="en-US" sz="620" dirty="0"/>
          </a:p>
        </p:txBody>
      </p:sp>
      <p:sp>
        <p:nvSpPr>
          <p:cNvPr id="55" name="Text 53"/>
          <p:cNvSpPr/>
          <p:nvPr/>
        </p:nvSpPr>
        <p:spPr>
          <a:xfrm>
            <a:off x="5852160" y="357530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5B667A"/>
                </a:solidFill>
              </a:rPr>
              <a:t>Lift@5%</a:t>
            </a:r>
            <a:endParaRPr lang="en-US" sz="640" dirty="0"/>
          </a:p>
        </p:txBody>
      </p:sp>
      <p:sp>
        <p:nvSpPr>
          <p:cNvPr id="56" name="Shape 54"/>
          <p:cNvSpPr/>
          <p:nvPr/>
        </p:nvSpPr>
        <p:spPr>
          <a:xfrm>
            <a:off x="7269480" y="3584448"/>
            <a:ext cx="2971800" cy="118872"/>
          </a:xfrm>
          <a:prstGeom prst="rect">
            <a:avLst/>
          </a:prstGeom>
          <a:solidFill>
            <a:srgbClr val="E7EAF1"/>
          </a:solidFill>
          <a:ln w="12700">
            <a:solidFill>
              <a:srgbClr val="E7EAF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269480" y="3584448"/>
            <a:ext cx="2341778" cy="118872"/>
          </a:xfrm>
          <a:prstGeom prst="rect">
            <a:avLst/>
          </a:prstGeom>
          <a:solidFill>
            <a:srgbClr val="257A57"/>
          </a:solidFill>
          <a:ln w="12700">
            <a:solidFill>
              <a:srgbClr val="257A5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332720" y="355244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1.576x</a:t>
            </a:r>
            <a:endParaRPr lang="en-US" sz="620" dirty="0"/>
          </a:p>
        </p:txBody>
      </p:sp>
      <p:sp>
        <p:nvSpPr>
          <p:cNvPr id="59" name="Text 57"/>
          <p:cNvSpPr/>
          <p:nvPr/>
        </p:nvSpPr>
        <p:spPr>
          <a:xfrm>
            <a:off x="5852160" y="398678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5B667A"/>
                </a:solidFill>
              </a:rPr>
              <a:t>Lift@10%</a:t>
            </a:r>
            <a:endParaRPr lang="en-US" sz="640" dirty="0"/>
          </a:p>
        </p:txBody>
      </p:sp>
      <p:sp>
        <p:nvSpPr>
          <p:cNvPr id="60" name="Shape 58"/>
          <p:cNvSpPr/>
          <p:nvPr/>
        </p:nvSpPr>
        <p:spPr>
          <a:xfrm>
            <a:off x="7269480" y="3995928"/>
            <a:ext cx="2971800" cy="118872"/>
          </a:xfrm>
          <a:prstGeom prst="rect">
            <a:avLst/>
          </a:prstGeom>
          <a:solidFill>
            <a:srgbClr val="E7EAF1"/>
          </a:solidFill>
          <a:ln w="12700">
            <a:solidFill>
              <a:srgbClr val="E7EAF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269480" y="3995928"/>
            <a:ext cx="2371496" cy="118872"/>
          </a:xfrm>
          <a:prstGeom prst="rect">
            <a:avLst/>
          </a:prstGeom>
          <a:solidFill>
            <a:srgbClr val="257A57"/>
          </a:solidFill>
          <a:ln w="12700">
            <a:solidFill>
              <a:srgbClr val="257A5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332720" y="396392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1.596x</a:t>
            </a:r>
            <a:endParaRPr lang="en-US" sz="620" dirty="0"/>
          </a:p>
        </p:txBody>
      </p:sp>
      <p:sp>
        <p:nvSpPr>
          <p:cNvPr id="63" name="Shape 61"/>
          <p:cNvSpPr/>
          <p:nvPr/>
        </p:nvSpPr>
        <p:spPr>
          <a:xfrm>
            <a:off x="868680" y="5074920"/>
            <a:ext cx="9692640" cy="566928"/>
          </a:xfrm>
          <a:prstGeom prst="roundRect">
            <a:avLst>
              <a:gd name="adj" fmla="val 16129"/>
            </a:avLst>
          </a:prstGeom>
          <a:solidFill>
            <a:srgbClr val="F5F7FB"/>
          </a:solidFill>
          <a:ln w="12700">
            <a:solidFill>
              <a:srgbClr val="17315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14984" y="5166360"/>
            <a:ext cx="9400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17315A"/>
                </a:solidFill>
              </a:rPr>
              <a:t>HOW TO READ THIS</a:t>
            </a:r>
            <a:endParaRPr lang="en-US" sz="580" dirty="0"/>
          </a:p>
        </p:txBody>
      </p:sp>
      <p:sp>
        <p:nvSpPr>
          <p:cNvPr id="65" name="Text 63"/>
          <p:cNvSpPr/>
          <p:nvPr/>
        </p:nvSpPr>
        <p:spPr>
          <a:xfrm>
            <a:off x="1014984" y="5385816"/>
            <a:ext cx="9400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AUPRC is especially relevant for imbalanced outcomes. Lift tells whether the top of the ranked list contains more future cases than random selection from the modeled sample.</a:t>
            </a:r>
            <a:endParaRPr lang="en-US" sz="740" dirty="0"/>
          </a:p>
        </p:txBody>
      </p:sp>
      <p:sp>
        <p:nvSpPr>
          <p:cNvPr id="66" name="Text 64"/>
          <p:cNvSpPr/>
          <p:nvPr/>
        </p:nvSpPr>
        <p:spPr>
          <a:xfrm>
            <a:off x="502920" y="6556248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92A6"/>
                </a:solidFill>
              </a:rPr>
              <a:t>Validated project development only — no example-deck metrics reused</a:t>
            </a:r>
            <a:endParaRPr lang="en-US" sz="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5B667A"/>
                </a:solidFill>
              </a:rPr>
              <a:t>FRAUD ALERT VULNERABILITY | 09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interpretation of lift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21208" y="108813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B667A"/>
                </a:solidFill>
              </a:rPr>
              <a:t>Lift can be translated into approximate case concentration using the modeled validation/sample base rate.</a:t>
            </a:r>
            <a:endParaRPr lang="en-US" sz="94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11201400" cy="0"/>
          </a:xfrm>
          <a:prstGeom prst="line">
            <a:avLst/>
          </a:prstGeom>
          <a:noFill/>
          <a:ln w="12700">
            <a:solidFill>
              <a:srgbClr val="D7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74520"/>
            <a:ext cx="1616659" cy="329184"/>
          </a:xfrm>
          <a:prstGeom prst="rect">
            <a:avLst/>
          </a:prstGeom>
          <a:solidFill>
            <a:srgbClr val="EEF1F7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15668"/>
            <a:ext cx="148864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111827"/>
                </a:solidFill>
              </a:rPr>
              <a:t>Band</a:t>
            </a:r>
            <a:endParaRPr lang="en-US" sz="670" dirty="0"/>
          </a:p>
        </p:txBody>
      </p:sp>
      <p:sp>
        <p:nvSpPr>
          <p:cNvPr id="8" name="Shape 6"/>
          <p:cNvSpPr/>
          <p:nvPr/>
        </p:nvSpPr>
        <p:spPr>
          <a:xfrm>
            <a:off x="2393899" y="1874520"/>
            <a:ext cx="1141171" cy="329184"/>
          </a:xfrm>
          <a:prstGeom prst="rect">
            <a:avLst/>
          </a:prstGeom>
          <a:solidFill>
            <a:srgbClr val="EEF1F7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7907" y="1915668"/>
            <a:ext cx="101315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111827"/>
                </a:solidFill>
              </a:rPr>
              <a:t>Lift</a:t>
            </a:r>
            <a:endParaRPr lang="en-US" sz="670" dirty="0"/>
          </a:p>
        </p:txBody>
      </p:sp>
      <p:sp>
        <p:nvSpPr>
          <p:cNvPr id="10" name="Shape 8"/>
          <p:cNvSpPr/>
          <p:nvPr/>
        </p:nvSpPr>
        <p:spPr>
          <a:xfrm>
            <a:off x="3535070" y="1874520"/>
            <a:ext cx="1997050" cy="329184"/>
          </a:xfrm>
          <a:prstGeom prst="rect">
            <a:avLst/>
          </a:prstGeom>
          <a:solidFill>
            <a:srgbClr val="EEF1F7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99078" y="1915668"/>
            <a:ext cx="186903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111827"/>
                </a:solidFill>
              </a:rPr>
              <a:t>Approx. case rate</a:t>
            </a:r>
            <a:endParaRPr lang="en-US" sz="670" dirty="0"/>
          </a:p>
        </p:txBody>
      </p:sp>
      <p:sp>
        <p:nvSpPr>
          <p:cNvPr id="12" name="Shape 10"/>
          <p:cNvSpPr/>
          <p:nvPr/>
        </p:nvSpPr>
        <p:spPr>
          <a:xfrm>
            <a:off x="777240" y="2203704"/>
            <a:ext cx="1616659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244852"/>
            <a:ext cx="148864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Baseline sample</a:t>
            </a:r>
            <a:endParaRPr lang="en-US" sz="645" dirty="0"/>
          </a:p>
        </p:txBody>
      </p:sp>
      <p:sp>
        <p:nvSpPr>
          <p:cNvPr id="14" name="Shape 12"/>
          <p:cNvSpPr/>
          <p:nvPr/>
        </p:nvSpPr>
        <p:spPr>
          <a:xfrm>
            <a:off x="2393899" y="2203704"/>
            <a:ext cx="1141171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7907" y="2244852"/>
            <a:ext cx="101315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1.000x</a:t>
            </a:r>
            <a:endParaRPr lang="en-US" sz="645" dirty="0"/>
          </a:p>
        </p:txBody>
      </p:sp>
      <p:sp>
        <p:nvSpPr>
          <p:cNvPr id="16" name="Shape 14"/>
          <p:cNvSpPr/>
          <p:nvPr/>
        </p:nvSpPr>
        <p:spPr>
          <a:xfrm>
            <a:off x="3535070" y="2203704"/>
            <a:ext cx="199705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99078" y="2244852"/>
            <a:ext cx="186903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9.1%</a:t>
            </a:r>
            <a:endParaRPr lang="en-US" sz="645" dirty="0"/>
          </a:p>
        </p:txBody>
      </p:sp>
      <p:sp>
        <p:nvSpPr>
          <p:cNvPr id="18" name="Shape 16"/>
          <p:cNvSpPr/>
          <p:nvPr/>
        </p:nvSpPr>
        <p:spPr>
          <a:xfrm>
            <a:off x="777240" y="2532888"/>
            <a:ext cx="1616659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2574036"/>
            <a:ext cx="148864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Top 1%</a:t>
            </a:r>
            <a:endParaRPr lang="en-US" sz="645" dirty="0"/>
          </a:p>
        </p:txBody>
      </p:sp>
      <p:sp>
        <p:nvSpPr>
          <p:cNvPr id="20" name="Shape 18"/>
          <p:cNvSpPr/>
          <p:nvPr/>
        </p:nvSpPr>
        <p:spPr>
          <a:xfrm>
            <a:off x="2393899" y="2532888"/>
            <a:ext cx="1141171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57907" y="2574036"/>
            <a:ext cx="101315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1.524x</a:t>
            </a:r>
            <a:endParaRPr lang="en-US" sz="645" dirty="0"/>
          </a:p>
        </p:txBody>
      </p:sp>
      <p:sp>
        <p:nvSpPr>
          <p:cNvPr id="22" name="Shape 20"/>
          <p:cNvSpPr/>
          <p:nvPr/>
        </p:nvSpPr>
        <p:spPr>
          <a:xfrm>
            <a:off x="3535070" y="2532888"/>
            <a:ext cx="199705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99078" y="2574036"/>
            <a:ext cx="186903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13.9%</a:t>
            </a:r>
            <a:endParaRPr lang="en-US" sz="645" dirty="0"/>
          </a:p>
        </p:txBody>
      </p:sp>
      <p:sp>
        <p:nvSpPr>
          <p:cNvPr id="24" name="Shape 22"/>
          <p:cNvSpPr/>
          <p:nvPr/>
        </p:nvSpPr>
        <p:spPr>
          <a:xfrm>
            <a:off x="777240" y="2862072"/>
            <a:ext cx="1616659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2903220"/>
            <a:ext cx="148864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Top 5%</a:t>
            </a:r>
            <a:endParaRPr lang="en-US" sz="645" dirty="0"/>
          </a:p>
        </p:txBody>
      </p:sp>
      <p:sp>
        <p:nvSpPr>
          <p:cNvPr id="26" name="Shape 24"/>
          <p:cNvSpPr/>
          <p:nvPr/>
        </p:nvSpPr>
        <p:spPr>
          <a:xfrm>
            <a:off x="2393899" y="2862072"/>
            <a:ext cx="1141171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57907" y="2903220"/>
            <a:ext cx="101315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1.576x</a:t>
            </a:r>
            <a:endParaRPr lang="en-US" sz="645" dirty="0"/>
          </a:p>
        </p:txBody>
      </p:sp>
      <p:sp>
        <p:nvSpPr>
          <p:cNvPr id="28" name="Shape 26"/>
          <p:cNvSpPr/>
          <p:nvPr/>
        </p:nvSpPr>
        <p:spPr>
          <a:xfrm>
            <a:off x="3535070" y="2862072"/>
            <a:ext cx="199705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99078" y="2903220"/>
            <a:ext cx="186903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14.3%</a:t>
            </a:r>
            <a:endParaRPr lang="en-US" sz="645" dirty="0"/>
          </a:p>
        </p:txBody>
      </p:sp>
      <p:sp>
        <p:nvSpPr>
          <p:cNvPr id="30" name="Shape 28"/>
          <p:cNvSpPr/>
          <p:nvPr/>
        </p:nvSpPr>
        <p:spPr>
          <a:xfrm>
            <a:off x="777240" y="3191256"/>
            <a:ext cx="1616659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" y="3232404"/>
            <a:ext cx="148864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Top 10%</a:t>
            </a:r>
            <a:endParaRPr lang="en-US" sz="645" dirty="0"/>
          </a:p>
        </p:txBody>
      </p:sp>
      <p:sp>
        <p:nvSpPr>
          <p:cNvPr id="32" name="Shape 30"/>
          <p:cNvSpPr/>
          <p:nvPr/>
        </p:nvSpPr>
        <p:spPr>
          <a:xfrm>
            <a:off x="2393899" y="3191256"/>
            <a:ext cx="1141171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57907" y="3232404"/>
            <a:ext cx="101315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1.596x</a:t>
            </a:r>
            <a:endParaRPr lang="en-US" sz="645" dirty="0"/>
          </a:p>
        </p:txBody>
      </p:sp>
      <p:sp>
        <p:nvSpPr>
          <p:cNvPr id="34" name="Shape 32"/>
          <p:cNvSpPr/>
          <p:nvPr/>
        </p:nvSpPr>
        <p:spPr>
          <a:xfrm>
            <a:off x="3535070" y="3191256"/>
            <a:ext cx="199705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99078" y="3232404"/>
            <a:ext cx="186903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14.5%</a:t>
            </a:r>
            <a:endParaRPr lang="en-US" sz="645" dirty="0"/>
          </a:p>
        </p:txBody>
      </p:sp>
      <p:sp>
        <p:nvSpPr>
          <p:cNvPr id="36" name="Text 34"/>
          <p:cNvSpPr/>
          <p:nvPr/>
        </p:nvSpPr>
        <p:spPr>
          <a:xfrm>
            <a:off x="6080760" y="243230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5B667A"/>
                </a:solidFill>
              </a:rPr>
              <a:t>Baseline</a:t>
            </a:r>
            <a:endParaRPr lang="en-US" sz="640" dirty="0"/>
          </a:p>
        </p:txBody>
      </p:sp>
      <p:sp>
        <p:nvSpPr>
          <p:cNvPr id="37" name="Shape 35"/>
          <p:cNvSpPr/>
          <p:nvPr/>
        </p:nvSpPr>
        <p:spPr>
          <a:xfrm>
            <a:off x="7498080" y="2441448"/>
            <a:ext cx="2926080" cy="118872"/>
          </a:xfrm>
          <a:prstGeom prst="rect">
            <a:avLst/>
          </a:prstGeom>
          <a:solidFill>
            <a:srgbClr val="E7EAF1"/>
          </a:solidFill>
          <a:ln w="12700">
            <a:solidFill>
              <a:srgbClr val="E7EAF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8080" y="2441448"/>
            <a:ext cx="1662545" cy="118872"/>
          </a:xfrm>
          <a:prstGeom prst="rect">
            <a:avLst/>
          </a:prstGeom>
          <a:solidFill>
            <a:srgbClr val="D7DCE5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15600" y="240944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9.1%</a:t>
            </a:r>
            <a:endParaRPr lang="en-US" sz="620" dirty="0"/>
          </a:p>
        </p:txBody>
      </p:sp>
      <p:sp>
        <p:nvSpPr>
          <p:cNvPr id="40" name="Text 38"/>
          <p:cNvSpPr/>
          <p:nvPr/>
        </p:nvSpPr>
        <p:spPr>
          <a:xfrm>
            <a:off x="6080760" y="284378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5B667A"/>
                </a:solidFill>
              </a:rPr>
              <a:t>Top 1%</a:t>
            </a:r>
            <a:endParaRPr lang="en-US" sz="640" dirty="0"/>
          </a:p>
        </p:txBody>
      </p:sp>
      <p:sp>
        <p:nvSpPr>
          <p:cNvPr id="41" name="Shape 39"/>
          <p:cNvSpPr/>
          <p:nvPr/>
        </p:nvSpPr>
        <p:spPr>
          <a:xfrm>
            <a:off x="7498080" y="2852928"/>
            <a:ext cx="2926080" cy="118872"/>
          </a:xfrm>
          <a:prstGeom prst="rect">
            <a:avLst/>
          </a:prstGeom>
          <a:solidFill>
            <a:srgbClr val="E7EAF1"/>
          </a:solidFill>
          <a:ln w="12700">
            <a:solidFill>
              <a:srgbClr val="E7EAF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98080" y="2852928"/>
            <a:ext cx="2533719" cy="118872"/>
          </a:xfrm>
          <a:prstGeom prst="rect">
            <a:avLst/>
          </a:prstGeom>
          <a:solidFill>
            <a:srgbClr val="257A57"/>
          </a:solidFill>
          <a:ln w="12700">
            <a:solidFill>
              <a:srgbClr val="257A5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515600" y="282092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13.9%</a:t>
            </a:r>
            <a:endParaRPr lang="en-US" sz="620" dirty="0"/>
          </a:p>
        </p:txBody>
      </p:sp>
      <p:sp>
        <p:nvSpPr>
          <p:cNvPr id="44" name="Text 42"/>
          <p:cNvSpPr/>
          <p:nvPr/>
        </p:nvSpPr>
        <p:spPr>
          <a:xfrm>
            <a:off x="6080760" y="32552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5B667A"/>
                </a:solidFill>
              </a:rPr>
              <a:t>Top 5%</a:t>
            </a:r>
            <a:endParaRPr lang="en-US" sz="640" dirty="0"/>
          </a:p>
        </p:txBody>
      </p:sp>
      <p:sp>
        <p:nvSpPr>
          <p:cNvPr id="45" name="Shape 43"/>
          <p:cNvSpPr/>
          <p:nvPr/>
        </p:nvSpPr>
        <p:spPr>
          <a:xfrm>
            <a:off x="7498080" y="3264408"/>
            <a:ext cx="2926080" cy="118872"/>
          </a:xfrm>
          <a:prstGeom prst="rect">
            <a:avLst/>
          </a:prstGeom>
          <a:solidFill>
            <a:srgbClr val="E7EAF1"/>
          </a:solidFill>
          <a:ln w="12700">
            <a:solidFill>
              <a:srgbClr val="E7EAF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98080" y="3264408"/>
            <a:ext cx="2620172" cy="118872"/>
          </a:xfrm>
          <a:prstGeom prst="rect">
            <a:avLst/>
          </a:prstGeom>
          <a:solidFill>
            <a:srgbClr val="257A57"/>
          </a:solidFill>
          <a:ln w="12700">
            <a:solidFill>
              <a:srgbClr val="257A5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515600" y="323240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14.3%</a:t>
            </a:r>
            <a:endParaRPr lang="en-US" sz="620" dirty="0"/>
          </a:p>
        </p:txBody>
      </p:sp>
      <p:sp>
        <p:nvSpPr>
          <p:cNvPr id="48" name="Text 46"/>
          <p:cNvSpPr/>
          <p:nvPr/>
        </p:nvSpPr>
        <p:spPr>
          <a:xfrm>
            <a:off x="6080760" y="366674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5B667A"/>
                </a:solidFill>
              </a:rPr>
              <a:t>Top 10%</a:t>
            </a:r>
            <a:endParaRPr lang="en-US" sz="640" dirty="0"/>
          </a:p>
        </p:txBody>
      </p:sp>
      <p:sp>
        <p:nvSpPr>
          <p:cNvPr id="49" name="Shape 47"/>
          <p:cNvSpPr/>
          <p:nvPr/>
        </p:nvSpPr>
        <p:spPr>
          <a:xfrm>
            <a:off x="7498080" y="3675888"/>
            <a:ext cx="2926080" cy="118872"/>
          </a:xfrm>
          <a:prstGeom prst="rect">
            <a:avLst/>
          </a:prstGeom>
          <a:solidFill>
            <a:srgbClr val="E7EAF1"/>
          </a:solidFill>
          <a:ln w="12700">
            <a:solidFill>
              <a:srgbClr val="E7EAF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98080" y="3675888"/>
            <a:ext cx="2653423" cy="118872"/>
          </a:xfrm>
          <a:prstGeom prst="rect">
            <a:avLst/>
          </a:prstGeom>
          <a:solidFill>
            <a:srgbClr val="257A57"/>
          </a:solidFill>
          <a:ln w="12700">
            <a:solidFill>
              <a:srgbClr val="257A5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515600" y="364388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14.5%</a:t>
            </a:r>
            <a:endParaRPr lang="en-US" sz="620" dirty="0"/>
          </a:p>
        </p:txBody>
      </p:sp>
      <p:sp>
        <p:nvSpPr>
          <p:cNvPr id="52" name="Shape 50"/>
          <p:cNvSpPr/>
          <p:nvPr/>
        </p:nvSpPr>
        <p:spPr>
          <a:xfrm>
            <a:off x="868680" y="4800600"/>
            <a:ext cx="9829800" cy="777240"/>
          </a:xfrm>
          <a:prstGeom prst="roundRect">
            <a:avLst>
              <a:gd name="adj" fmla="val 11765"/>
            </a:avLst>
          </a:prstGeom>
          <a:solidFill>
            <a:srgbClr val="F5F7FB"/>
          </a:solidFill>
          <a:ln w="12700">
            <a:solidFill>
              <a:srgbClr val="B7772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14984" y="4892040"/>
            <a:ext cx="9537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B7772B"/>
                </a:solidFill>
              </a:rPr>
              <a:t>IMPORTANT CAVEAT</a:t>
            </a:r>
            <a:endParaRPr lang="en-US" sz="580" dirty="0"/>
          </a:p>
        </p:txBody>
      </p:sp>
      <p:sp>
        <p:nvSpPr>
          <p:cNvPr id="54" name="Text 52"/>
          <p:cNvSpPr/>
          <p:nvPr/>
        </p:nvSpPr>
        <p:spPr>
          <a:xfrm>
            <a:off x="1014984" y="5111496"/>
            <a:ext cx="9537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These are derived approximations based on the 1:10 modeled sample base rate of 9.1%, not a production portfolio prevalence estimate. Thresholds still require calibration and capacity analysis.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02920" y="6556248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92A6"/>
                </a:solidFill>
              </a:rPr>
              <a:t>Validated project development only — no example-deck metrics reused</a:t>
            </a:r>
            <a:endParaRPr lang="en-US" sz="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5B667A"/>
                </a:solidFill>
              </a:rPr>
              <a:t>FRAUD ALERT VULNERABILITY | 10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validated vs what remains open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21208" y="108813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B667A"/>
                </a:solidFill>
              </a:rPr>
              <a:t>This separation prevents the deck from over-claiming and keeps the DS discussion rigorous.</a:t>
            </a:r>
            <a:endParaRPr lang="en-US" sz="94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11201400" cy="0"/>
          </a:xfrm>
          <a:prstGeom prst="line">
            <a:avLst/>
          </a:prstGeom>
          <a:noFill/>
          <a:ln w="12700">
            <a:solidFill>
              <a:srgbClr val="D7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74520"/>
            <a:ext cx="2103577" cy="358140"/>
          </a:xfrm>
          <a:prstGeom prst="rect">
            <a:avLst/>
          </a:prstGeom>
          <a:solidFill>
            <a:srgbClr val="EEF1F7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15668"/>
            <a:ext cx="1975561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111827"/>
                </a:solidFill>
              </a:rPr>
              <a:t>Validated / established</a:t>
            </a:r>
            <a:endParaRPr lang="en-US" sz="670" dirty="0"/>
          </a:p>
        </p:txBody>
      </p:sp>
      <p:sp>
        <p:nvSpPr>
          <p:cNvPr id="8" name="Shape 6"/>
          <p:cNvSpPr/>
          <p:nvPr/>
        </p:nvSpPr>
        <p:spPr>
          <a:xfrm>
            <a:off x="2880817" y="1874520"/>
            <a:ext cx="2788463" cy="358140"/>
          </a:xfrm>
          <a:prstGeom prst="rect">
            <a:avLst/>
          </a:prstGeom>
          <a:solidFill>
            <a:srgbClr val="EEF1F7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44825" y="1915668"/>
            <a:ext cx="2660447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111827"/>
                </a:solidFill>
              </a:rPr>
              <a:t>Evidence</a:t>
            </a:r>
            <a:endParaRPr lang="en-US" sz="670" dirty="0"/>
          </a:p>
        </p:txBody>
      </p:sp>
      <p:sp>
        <p:nvSpPr>
          <p:cNvPr id="10" name="Shape 8"/>
          <p:cNvSpPr/>
          <p:nvPr/>
        </p:nvSpPr>
        <p:spPr>
          <a:xfrm>
            <a:off x="777240" y="2232660"/>
            <a:ext cx="2103577" cy="3581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273808"/>
            <a:ext cx="1975561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Cohort size</a:t>
            </a:r>
            <a:endParaRPr lang="en-US" sz="645" dirty="0"/>
          </a:p>
        </p:txBody>
      </p:sp>
      <p:sp>
        <p:nvSpPr>
          <p:cNvPr id="12" name="Shape 10"/>
          <p:cNvSpPr/>
          <p:nvPr/>
        </p:nvSpPr>
        <p:spPr>
          <a:xfrm>
            <a:off x="2880817" y="2232660"/>
            <a:ext cx="2788463" cy="3581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44825" y="2273808"/>
            <a:ext cx="2660447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688,589 modeled parties</a:t>
            </a:r>
            <a:endParaRPr lang="en-US" sz="645" dirty="0"/>
          </a:p>
        </p:txBody>
      </p:sp>
      <p:sp>
        <p:nvSpPr>
          <p:cNvPr id="14" name="Shape 12"/>
          <p:cNvSpPr/>
          <p:nvPr/>
        </p:nvSpPr>
        <p:spPr>
          <a:xfrm>
            <a:off x="777240" y="2590800"/>
            <a:ext cx="2103577" cy="3581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631948"/>
            <a:ext cx="1975561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Split construction</a:t>
            </a:r>
            <a:endParaRPr lang="en-US" sz="645" dirty="0"/>
          </a:p>
        </p:txBody>
      </p:sp>
      <p:sp>
        <p:nvSpPr>
          <p:cNvPr id="16" name="Shape 14"/>
          <p:cNvSpPr/>
          <p:nvPr/>
        </p:nvSpPr>
        <p:spPr>
          <a:xfrm>
            <a:off x="2880817" y="2590800"/>
            <a:ext cx="2788463" cy="3581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44825" y="2631948"/>
            <a:ext cx="2660447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TRAIN / VALIDATION / TEST with 1:10 design</a:t>
            </a:r>
            <a:endParaRPr lang="en-US" sz="645" dirty="0"/>
          </a:p>
        </p:txBody>
      </p:sp>
      <p:sp>
        <p:nvSpPr>
          <p:cNvPr id="18" name="Shape 16"/>
          <p:cNvSpPr/>
          <p:nvPr/>
        </p:nvSpPr>
        <p:spPr>
          <a:xfrm>
            <a:off x="777240" y="2948940"/>
            <a:ext cx="2103577" cy="3581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2990088"/>
            <a:ext cx="1975561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Temporal frame</a:t>
            </a:r>
            <a:endParaRPr lang="en-US" sz="645" dirty="0"/>
          </a:p>
        </p:txBody>
      </p:sp>
      <p:sp>
        <p:nvSpPr>
          <p:cNvPr id="20" name="Shape 18"/>
          <p:cNvSpPr/>
          <p:nvPr/>
        </p:nvSpPr>
        <p:spPr>
          <a:xfrm>
            <a:off x="2880817" y="2948940"/>
            <a:ext cx="2788463" cy="3581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44825" y="2990088"/>
            <a:ext cx="2660447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13m observation + 3m outcome</a:t>
            </a:r>
            <a:endParaRPr lang="en-US" sz="645" dirty="0"/>
          </a:p>
        </p:txBody>
      </p:sp>
      <p:sp>
        <p:nvSpPr>
          <p:cNvPr id="22" name="Shape 20"/>
          <p:cNvSpPr/>
          <p:nvPr/>
        </p:nvSpPr>
        <p:spPr>
          <a:xfrm>
            <a:off x="777240" y="3307080"/>
            <a:ext cx="2103577" cy="3581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3348228"/>
            <a:ext cx="1975561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Model A benchmark</a:t>
            </a:r>
            <a:endParaRPr lang="en-US" sz="645" dirty="0"/>
          </a:p>
        </p:txBody>
      </p:sp>
      <p:sp>
        <p:nvSpPr>
          <p:cNvPr id="24" name="Shape 22"/>
          <p:cNvSpPr/>
          <p:nvPr/>
        </p:nvSpPr>
        <p:spPr>
          <a:xfrm>
            <a:off x="2880817" y="3307080"/>
            <a:ext cx="2788463" cy="3581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44825" y="3348228"/>
            <a:ext cx="2660447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AUPRC 0.1365; AUROC 0.6671</a:t>
            </a:r>
            <a:endParaRPr lang="en-US" sz="645" dirty="0"/>
          </a:p>
        </p:txBody>
      </p:sp>
      <p:sp>
        <p:nvSpPr>
          <p:cNvPr id="26" name="Shape 24"/>
          <p:cNvSpPr/>
          <p:nvPr/>
        </p:nvSpPr>
        <p:spPr>
          <a:xfrm>
            <a:off x="777240" y="3665220"/>
            <a:ext cx="2103577" cy="3581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3706368"/>
            <a:ext cx="1975561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Lift benchmark</a:t>
            </a:r>
            <a:endParaRPr lang="en-US" sz="645" dirty="0"/>
          </a:p>
        </p:txBody>
      </p:sp>
      <p:sp>
        <p:nvSpPr>
          <p:cNvPr id="28" name="Shape 26"/>
          <p:cNvSpPr/>
          <p:nvPr/>
        </p:nvSpPr>
        <p:spPr>
          <a:xfrm>
            <a:off x="2880817" y="3665220"/>
            <a:ext cx="2788463" cy="3581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44825" y="3706368"/>
            <a:ext cx="2660447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1.524 to 1.596 across top bands</a:t>
            </a:r>
            <a:endParaRPr lang="en-US" sz="645" dirty="0"/>
          </a:p>
        </p:txBody>
      </p:sp>
      <p:sp>
        <p:nvSpPr>
          <p:cNvPr id="30" name="Shape 28"/>
          <p:cNvSpPr/>
          <p:nvPr/>
        </p:nvSpPr>
        <p:spPr>
          <a:xfrm>
            <a:off x="6172200" y="1874520"/>
            <a:ext cx="1818284" cy="358140"/>
          </a:xfrm>
          <a:prstGeom prst="rect">
            <a:avLst/>
          </a:prstGeom>
          <a:solidFill>
            <a:srgbClr val="EEF1F7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36208" y="1915668"/>
            <a:ext cx="1690268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111827"/>
                </a:solidFill>
              </a:rPr>
              <a:t>Open decision</a:t>
            </a:r>
            <a:endParaRPr lang="en-US" sz="670" dirty="0"/>
          </a:p>
        </p:txBody>
      </p:sp>
      <p:sp>
        <p:nvSpPr>
          <p:cNvPr id="32" name="Shape 30"/>
          <p:cNvSpPr/>
          <p:nvPr/>
        </p:nvSpPr>
        <p:spPr>
          <a:xfrm>
            <a:off x="7990484" y="1874520"/>
            <a:ext cx="2616556" cy="358140"/>
          </a:xfrm>
          <a:prstGeom prst="rect">
            <a:avLst/>
          </a:prstGeom>
          <a:solidFill>
            <a:srgbClr val="EEF1F7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54492" y="1915668"/>
            <a:ext cx="2488540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111827"/>
                </a:solidFill>
              </a:rPr>
              <a:t>Needed evidence</a:t>
            </a:r>
            <a:endParaRPr lang="en-US" sz="670" dirty="0"/>
          </a:p>
        </p:txBody>
      </p:sp>
      <p:sp>
        <p:nvSpPr>
          <p:cNvPr id="34" name="Shape 32"/>
          <p:cNvSpPr/>
          <p:nvPr/>
        </p:nvSpPr>
        <p:spPr>
          <a:xfrm>
            <a:off x="6172200" y="2232660"/>
            <a:ext cx="1818284" cy="3581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36208" y="2273808"/>
            <a:ext cx="1690268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Model B adoption</a:t>
            </a:r>
            <a:endParaRPr lang="en-US" sz="645" dirty="0"/>
          </a:p>
        </p:txBody>
      </p:sp>
      <p:sp>
        <p:nvSpPr>
          <p:cNvPr id="36" name="Shape 34"/>
          <p:cNvSpPr/>
          <p:nvPr/>
        </p:nvSpPr>
        <p:spPr>
          <a:xfrm>
            <a:off x="7990484" y="2232660"/>
            <a:ext cx="2616556" cy="3581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54492" y="2273808"/>
            <a:ext cx="2488540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A vs B validation/test comparison</a:t>
            </a:r>
            <a:endParaRPr lang="en-US" sz="645" dirty="0"/>
          </a:p>
        </p:txBody>
      </p:sp>
      <p:sp>
        <p:nvSpPr>
          <p:cNvPr id="38" name="Shape 36"/>
          <p:cNvSpPr/>
          <p:nvPr/>
        </p:nvSpPr>
        <p:spPr>
          <a:xfrm>
            <a:off x="6172200" y="2590800"/>
            <a:ext cx="1818284" cy="3581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36208" y="2631948"/>
            <a:ext cx="1690268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Threshold</a:t>
            </a:r>
            <a:endParaRPr lang="en-US" sz="645" dirty="0"/>
          </a:p>
        </p:txBody>
      </p:sp>
      <p:sp>
        <p:nvSpPr>
          <p:cNvPr id="40" name="Shape 38"/>
          <p:cNvSpPr/>
          <p:nvPr/>
        </p:nvSpPr>
        <p:spPr>
          <a:xfrm>
            <a:off x="7990484" y="2590800"/>
            <a:ext cx="2616556" cy="3581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54492" y="2631948"/>
            <a:ext cx="2488540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capacity-based operating point</a:t>
            </a:r>
            <a:endParaRPr lang="en-US" sz="645" dirty="0"/>
          </a:p>
        </p:txBody>
      </p:sp>
      <p:sp>
        <p:nvSpPr>
          <p:cNvPr id="42" name="Shape 40"/>
          <p:cNvSpPr/>
          <p:nvPr/>
        </p:nvSpPr>
        <p:spPr>
          <a:xfrm>
            <a:off x="6172200" y="2948940"/>
            <a:ext cx="1818284" cy="3581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36208" y="2990088"/>
            <a:ext cx="1690268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Calibration</a:t>
            </a:r>
            <a:endParaRPr lang="en-US" sz="645" dirty="0"/>
          </a:p>
        </p:txBody>
      </p:sp>
      <p:sp>
        <p:nvSpPr>
          <p:cNvPr id="44" name="Shape 42"/>
          <p:cNvSpPr/>
          <p:nvPr/>
        </p:nvSpPr>
        <p:spPr>
          <a:xfrm>
            <a:off x="7990484" y="2948940"/>
            <a:ext cx="2616556" cy="3581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54492" y="2990088"/>
            <a:ext cx="2488540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probability reliability by decile</a:t>
            </a:r>
            <a:endParaRPr lang="en-US" sz="645" dirty="0"/>
          </a:p>
        </p:txBody>
      </p:sp>
      <p:sp>
        <p:nvSpPr>
          <p:cNvPr id="46" name="Shape 44"/>
          <p:cNvSpPr/>
          <p:nvPr/>
        </p:nvSpPr>
        <p:spPr>
          <a:xfrm>
            <a:off x="6172200" y="3307080"/>
            <a:ext cx="1818284" cy="3581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36208" y="3348228"/>
            <a:ext cx="1690268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Stability</a:t>
            </a:r>
            <a:endParaRPr lang="en-US" sz="645" dirty="0"/>
          </a:p>
        </p:txBody>
      </p:sp>
      <p:sp>
        <p:nvSpPr>
          <p:cNvPr id="48" name="Shape 46"/>
          <p:cNvSpPr/>
          <p:nvPr/>
        </p:nvSpPr>
        <p:spPr>
          <a:xfrm>
            <a:off x="7990484" y="3307080"/>
            <a:ext cx="2616556" cy="3581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54492" y="3348228"/>
            <a:ext cx="2488540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time/cohort robustness</a:t>
            </a:r>
            <a:endParaRPr lang="en-US" sz="645" dirty="0"/>
          </a:p>
        </p:txBody>
      </p:sp>
      <p:sp>
        <p:nvSpPr>
          <p:cNvPr id="50" name="Shape 48"/>
          <p:cNvSpPr/>
          <p:nvPr/>
        </p:nvSpPr>
        <p:spPr>
          <a:xfrm>
            <a:off x="6172200" y="3665220"/>
            <a:ext cx="1818284" cy="3581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36208" y="3706368"/>
            <a:ext cx="1690268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Governance</a:t>
            </a:r>
            <a:endParaRPr lang="en-US" sz="645" dirty="0"/>
          </a:p>
        </p:txBody>
      </p:sp>
      <p:sp>
        <p:nvSpPr>
          <p:cNvPr id="52" name="Shape 50"/>
          <p:cNvSpPr/>
          <p:nvPr/>
        </p:nvSpPr>
        <p:spPr>
          <a:xfrm>
            <a:off x="7990484" y="3665220"/>
            <a:ext cx="2616556" cy="3581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54492" y="3706368"/>
            <a:ext cx="2488540" cy="27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5" dirty="0">
                <a:solidFill>
                  <a:srgbClr val="5B667A"/>
                </a:solidFill>
              </a:rPr>
              <a:t>review burden and ethical monitoring</a:t>
            </a:r>
            <a:endParaRPr lang="en-US" sz="645" dirty="0"/>
          </a:p>
        </p:txBody>
      </p:sp>
      <p:sp>
        <p:nvSpPr>
          <p:cNvPr id="54" name="Shape 52"/>
          <p:cNvSpPr/>
          <p:nvPr/>
        </p:nvSpPr>
        <p:spPr>
          <a:xfrm>
            <a:off x="868680" y="5074920"/>
            <a:ext cx="9738360" cy="566928"/>
          </a:xfrm>
          <a:prstGeom prst="roundRect">
            <a:avLst>
              <a:gd name="adj" fmla="val 16129"/>
            </a:avLst>
          </a:prstGeom>
          <a:solidFill>
            <a:srgbClr val="F5F7FB"/>
          </a:solidFill>
          <a:ln w="12700">
            <a:solidFill>
              <a:srgbClr val="A43A3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14984" y="5166360"/>
            <a:ext cx="9445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A43A3A"/>
                </a:solidFill>
              </a:rPr>
              <a:t>MANAGER-LEVEL READOUT</a:t>
            </a:r>
            <a:endParaRPr lang="en-US" sz="580" dirty="0"/>
          </a:p>
        </p:txBody>
      </p:sp>
      <p:sp>
        <p:nvSpPr>
          <p:cNvPr id="56" name="Text 54"/>
          <p:cNvSpPr/>
          <p:nvPr/>
        </p:nvSpPr>
        <p:spPr>
          <a:xfrm>
            <a:off x="1014984" y="5385816"/>
            <a:ext cx="9445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The project is ready for model-selection discussion, not yet for a final deployment recommendation without A/B comparison, calibration, and threshold review.</a:t>
            </a:r>
            <a:endParaRPr lang="en-US" sz="740" dirty="0"/>
          </a:p>
        </p:txBody>
      </p:sp>
      <p:sp>
        <p:nvSpPr>
          <p:cNvPr id="57" name="Text 55"/>
          <p:cNvSpPr/>
          <p:nvPr/>
        </p:nvSpPr>
        <p:spPr>
          <a:xfrm>
            <a:off x="502920" y="6556248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92A6"/>
                </a:solidFill>
              </a:rPr>
              <a:t>Validated project development only — no example-deck metrics reused</a:t>
            </a:r>
            <a:endParaRPr lang="en-US" sz="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5B667A"/>
                </a:solidFill>
              </a:rPr>
              <a:t>FRAUD ALERT VULNERABILITY | 11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DS review plan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21208" y="108813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B667A"/>
                </a:solidFill>
              </a:rPr>
              <a:t>The next version should add only validated evidence, not inferred visuals from the reference examples.</a:t>
            </a:r>
            <a:endParaRPr lang="en-US" sz="94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11201400" cy="0"/>
          </a:xfrm>
          <a:prstGeom prst="line">
            <a:avLst/>
          </a:prstGeom>
          <a:noFill/>
          <a:ln w="12700">
            <a:solidFill>
              <a:srgbClr val="D7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74520"/>
            <a:ext cx="324612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203911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68B0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52728" y="2020824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11827"/>
                </a:solidFill>
              </a:rPr>
              <a:t>Add Model B metrics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252728" y="2286000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B667A"/>
                </a:solidFill>
              </a:rPr>
              <a:t>AUPRC, AUROC, Lift@1/5/10 side-by-side with A</a:t>
            </a:r>
            <a:endParaRPr lang="en-US" sz="620" dirty="0"/>
          </a:p>
        </p:txBody>
      </p:sp>
      <p:sp>
        <p:nvSpPr>
          <p:cNvPr id="10" name="Shape 8"/>
          <p:cNvSpPr/>
          <p:nvPr/>
        </p:nvSpPr>
        <p:spPr>
          <a:xfrm>
            <a:off x="4389120" y="1874520"/>
            <a:ext cx="324612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35424" y="203911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68B0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56048" y="2020824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11827"/>
                </a:solidFill>
              </a:rPr>
              <a:t>Threshold analysis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956048" y="2286000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B667A"/>
                </a:solidFill>
              </a:rPr>
              <a:t>expected volume and case concentration by review capacity</a:t>
            </a:r>
            <a:endParaRPr lang="en-US" sz="620" dirty="0"/>
          </a:p>
        </p:txBody>
      </p:sp>
      <p:sp>
        <p:nvSpPr>
          <p:cNvPr id="14" name="Shape 12"/>
          <p:cNvSpPr/>
          <p:nvPr/>
        </p:nvSpPr>
        <p:spPr>
          <a:xfrm>
            <a:off x="8092440" y="1874520"/>
            <a:ext cx="324612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744" y="203911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68B0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59368" y="2020824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11827"/>
                </a:solidFill>
              </a:rPr>
              <a:t>Calibration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659368" y="2286000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B667A"/>
                </a:solidFill>
              </a:rPr>
              <a:t>probability deciles and reliability curve</a:t>
            </a:r>
            <a:endParaRPr lang="en-US" sz="620" dirty="0"/>
          </a:p>
        </p:txBody>
      </p:sp>
      <p:sp>
        <p:nvSpPr>
          <p:cNvPr id="18" name="Shape 16"/>
          <p:cNvSpPr/>
          <p:nvPr/>
        </p:nvSpPr>
        <p:spPr>
          <a:xfrm>
            <a:off x="685800" y="3227832"/>
            <a:ext cx="324612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" y="339242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68B0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52728" y="3374136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11827"/>
                </a:solidFill>
              </a:rPr>
              <a:t>Feature review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52728" y="3639312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B667A"/>
                </a:solidFill>
              </a:rPr>
              <a:t>coefficients, stability, and selected z-score contribution</a:t>
            </a:r>
            <a:endParaRPr lang="en-US" sz="620" dirty="0"/>
          </a:p>
        </p:txBody>
      </p:sp>
      <p:sp>
        <p:nvSpPr>
          <p:cNvPr id="22" name="Shape 20"/>
          <p:cNvSpPr/>
          <p:nvPr/>
        </p:nvSpPr>
        <p:spPr>
          <a:xfrm>
            <a:off x="4389120" y="3227832"/>
            <a:ext cx="324612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35424" y="339242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68B0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56048" y="3374136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11827"/>
                </a:solidFill>
              </a:rPr>
              <a:t>Time stability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956048" y="3639312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B667A"/>
                </a:solidFill>
              </a:rPr>
              <a:t>check validation/test consistency across periods</a:t>
            </a:r>
            <a:endParaRPr lang="en-US" sz="620" dirty="0"/>
          </a:p>
        </p:txBody>
      </p:sp>
      <p:sp>
        <p:nvSpPr>
          <p:cNvPr id="26" name="Shape 24"/>
          <p:cNvSpPr/>
          <p:nvPr/>
        </p:nvSpPr>
        <p:spPr>
          <a:xfrm>
            <a:off x="8092440" y="3227832"/>
            <a:ext cx="324612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38744" y="339242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68B0"/>
                </a:solidFill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59368" y="3374136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11827"/>
                </a:solidFill>
              </a:rPr>
              <a:t>Governance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659368" y="3639312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B667A"/>
                </a:solidFill>
              </a:rPr>
              <a:t>false-positive burden and ethical monitoring plan</a:t>
            </a:r>
            <a:endParaRPr lang="en-US" sz="620" dirty="0"/>
          </a:p>
        </p:txBody>
      </p:sp>
      <p:sp>
        <p:nvSpPr>
          <p:cNvPr id="30" name="Shape 28"/>
          <p:cNvSpPr/>
          <p:nvPr/>
        </p:nvSpPr>
        <p:spPr>
          <a:xfrm>
            <a:off x="777240" y="5029200"/>
            <a:ext cx="10012680" cy="685800"/>
          </a:xfrm>
          <a:prstGeom prst="roundRect">
            <a:avLst>
              <a:gd name="adj" fmla="val 13333"/>
            </a:avLst>
          </a:prstGeom>
          <a:solidFill>
            <a:srgbClr val="F5F7FB"/>
          </a:solidFill>
          <a:ln w="12700">
            <a:solidFill>
              <a:srgbClr val="1731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3544" y="5120640"/>
            <a:ext cx="9720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17315A"/>
                </a:solidFill>
              </a:rPr>
              <a:t>FINAL MESSAGE</a:t>
            </a:r>
            <a:endParaRPr lang="en-US" sz="580" dirty="0"/>
          </a:p>
        </p:txBody>
      </p:sp>
      <p:sp>
        <p:nvSpPr>
          <p:cNvPr id="32" name="Text 30"/>
          <p:cNvSpPr/>
          <p:nvPr/>
        </p:nvSpPr>
        <p:spPr>
          <a:xfrm>
            <a:off x="923544" y="5340096"/>
            <a:ext cx="9720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The revised deck should keep one temporal-design slide and use the rest of the presentation for evidence: cohort counts, feature logic, A/B experiment design, validation metrics, and decision criteria.</a:t>
            </a:r>
            <a:endParaRPr lang="en-US" sz="740" dirty="0"/>
          </a:p>
        </p:txBody>
      </p:sp>
      <p:sp>
        <p:nvSpPr>
          <p:cNvPr id="33" name="Text 31"/>
          <p:cNvSpPr/>
          <p:nvPr/>
        </p:nvSpPr>
        <p:spPr>
          <a:xfrm>
            <a:off x="502920" y="6556248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92A6"/>
                </a:solidFill>
              </a:rPr>
              <a:t>Validated project development only — no example-deck metrics reused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Alert Vulnerability Model — DS Review v3</dc:title>
  <dc:subject>Fraud Alert Vulnerability DS Review</dc:subject>
  <dc:creator>OpenAI</dc:creator>
  <cp:lastModifiedBy>OpenAI</cp:lastModifiedBy>
  <cp:revision>1</cp:revision>
  <dcterms:created xsi:type="dcterms:W3CDTF">2026-09-30T19:16:05Z</dcterms:created>
  <dcterms:modified xsi:type="dcterms:W3CDTF">2026-09-30T19:16:05Z</dcterms:modified>
</cp:coreProperties>
</file>